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探索以北京小区AOI为分析单元，考察2025年12345居住环境诉求与总体品质、建成年代、停车供给、绿化率和容积率的关系。依次展示描述统计与空间对应、环境关联与样本内识别、计数模型比较、共同残差与相对对照、潜变量与内容关联。统计成分不直接命名为居民表达意愿或因果机制。本部分覆盖原报告第三至第六步，不包含第七步之后的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始诉求按完整三级分类路径筛选，统一投影后按点落面匹配AOI。属性点经名称和空间核验聚合，既有环境指标均为代理测量。底表有9973个AOI，可计数北京AOI为9628个，要求户数和面积等基础信息有效后有6341个。品质、年代、停车、绿化、容积率的最大可用样本分别为5561、6335、3840、2668和5917个；完整控制固定样本分别为5515、6244、3822、2657和5843个。停车与绿化覆盖率较低。六个环境组不穷尽21类，物业私占公共用地仅进入合计。主体回归采用raw，日去重不是居民或独立事件数，第六步电梯使用日去重例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6341个基础样本中，21类原始诉求共137542件，日去重后126747件，减少7.85%。六组的数量分别如图，另有3102件物业私占公共用地进入21类合计。零诉求小区占13.8%，记录量最高的10%小区承载47.8%的记录，方差均值比为56.3。规划密度只有1280件，88.7%的小区该类为零。环境属性中，平均建成年份为2001.5年，户均车位均值0.525，绿化率均值0.324，容积率均值2.168；这些均值分别来自各自的有效样本。过度离散和零值是后续计数分析需要处理的分布特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中左侧是控制户数、面积、行政区及完整二次空间趋势后的偏秩相关，属性已统一为问题方向。年代与公共设施为0.138，停车与秩序为0.104，品质为0.075，停车设施为0.058，绿化与密度接近零。区间来自3公里空间块499次重抽样，未校正多重比较。共同五项与共同四项样本中，年代结果分别为0.134与0.146，而品质结果对样本交集更敏感。右侧为1公里网格的描述性相关，每格至少3个AOI，诉求指标采用加5平滑的O/E；这不是LISA检验。问题高诉求低的网格不能直接判定为漏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PML保留有效零诉求小区，户数和面积取对数作为协变量，逐步控制区固定效应、二次空间趋势及扩展背景。年代维度不重复加入房龄。IRR表示问题程度增加1个固定参照标准差时的条件期望倍数。完整E4下，年代与公共设施IRR为1.207，95%区间1.156到1.260，BH校正q小于0.001。品质IRR为1.063，未校正p为0.033，但六项校正q为0.099，应作有限证据解释。其他四项区间包含1。品质和停车秩序的估计随背景控制加入而减小，年代关联保留；这不是因果效应分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固定环境阈值划分G1最有利至G5最不利，标准化预测将户数统一设为1000，其他控制保持各AOI取值后平均。年代与公共设施的条件期望依次为3.62、4.20、5.08、5.80、6.28，G5相对G1的IRR为1.733，区间1.508到1.992，组间、总体差异与趋势检验q均小于0.001。其余维度的分组证据较弱：品质、停车秩序、停车设施和密度的G5/G1分别为1.186、1.230、1.251和1.090，组间q均未达到5%。绿化G4为空，相关分组拟合被跳过。预测数值不是实际每千户率或另行年化的发生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使用不含目标属性的基准模型构造相对诉求强度，并进行经验贝叶斯平滑，再按相对强度选前20%，考察其覆盖环境代理指标最不利20%集合的比例。随机基准约为20%。品质约20.0%，年代22.7%，停车秩序22.7%，停车设施23.4%，绿地18.8%，规划密度19.2%。年代只高于随机基准约2.7个百分点。停车两项的调整召回还低于原始件数和户数排序的相应表现。边界同值和基准控制会影响排序。所有指标是样本内描述，没有区间、显著性检验或样本外验证，也不是实际故障识别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样本、全部名称核验和排除改派样本中，年代IRR分别为1.207、1.182和1.226，均通过BH校正。品质的证据随样本变化，停车、绿化和容积率仍缺少稳定支持。三种样本数量和构成同时变化，不能把估计差全归因于匹配质量。Conley采用1、2、3、5公里带宽时主要判断一致。E4残差在品质、年代、两项停车及绿化上仍存在正向Moran关联，密度不明确。普通残差置换未校正拟合和异方差，仅作为探索性诊断。空间稳健协方差主要调整推断，不消除遗漏因素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比较仅针对总体品质与21类合计，在相同5515个AOI和E4固定效应上进行。PPML与NB2最大似然的AIC分别为117775.4和40824.7，NB2改善计数分布拟合，但这不否定PPML条件均值估计，也不证明样本外预测优势。品质IRR从1.063降至两种NB2的约1.035；最大似然区间包含1，贝叶斯可信区间下限约1.0005，证据较弱且依赖设定。贝叶斯NB2诊断通过，CAR最大Rhat为1.0187、最小bulk ESS为252.3，未通过预设门槛，因此不解读其正式系数和预测。NB2的3公里残差Moran约0.025，局部空间结构并未消失。贝叶斯可信区间与空间稳健置信区间性质不同。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端5%对应275个小区，1%对应55个，名单重叠率为交集除以单个名单数量。PPML与NB2最大似然的偏低5%重叠仅25.1%，偏低1%仅10.9%；偏高端分别为65.8%与54.5%。两种NB2之间则高度一致，5%两端均为99.6%，1%偏低98.2%、偏高100%。不同方差假设改变Pearson残差标准化及排序，因此低于模型预期的小区并非不依赖模型的事实分类，不能直接命名为低表达意愿，也不是现实问题的召回结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共设施和绿地在完整控制后的随机分位残差相关为0.354。六类环境诉求中，前五类两两相关约0.287到0.496，而规划密度与其他类别仅约0.072到0.101。公共设施与绿地的NB方差残差相关从offset规格0.804降至自由估计户数的0.365，说明规模处理影响共同残差大小。主样本完整规格模拟442次有效，达到499次中至少80%的报告门槛；名称核验规格仅285次，不能报告正式模拟p值，失败源于模拟全零区且没有补抽。独立NB参照没有保留未建模空间随机场，因此这些检验是探索性的，共同变化可包含遗漏客观因素、管理、记录过程或空间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项预设对应关系的目标IRR除以八类非环境诉求合计IRR，区间均包含1。年代与公共设施目标IRR为1.207，对照为1.170，比值1.031，区间0.981到1.085，未显示明确额外优势。具体内容上，品质与下水管道比值1.187、年代与下水管道1.182，年代与电梯0.685、容积率与电梯1.124，四项q均小于0.001。房屋修缮与供暖未强于非环境合计。电梯采用日去重，其他为raw。结果依赖对照类别，非环境对照并非纯表达指标；设备拥有量和使用暴露缺失，不能把电梯方向解释为维护风险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控制八类非环境残差后，环境平均相关由0.347降到0.260，平均相关相对下降25.1%，PCA第一成分占比从47.7%降为40.5%，说明共享联系下降但仍存在。该下降比例不是表达意愿或工单解释比例。14类残差测量模型中，GE相较单G的BIC从1400.9降到711.8，CFI从0.932升至0.979，支持跨全部类别的G与仅环境类别的E共同结构并存。五类主要环境组的共同度内G份额平均54.4%，不等于全部计数方差。规划密度虽G份额92.2%，但共同度只有5.4%，不能由此判断其诉求由意愿主导。因子数比较依据拟合指标，不作普通卡方差异显著性解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GE的Ma模型中，年代、停车、绿化、容积率到G的路径区间为正，品质到G的区间包含零；五项到E的区间均包含零。E共同结构存在，不表示这些属性都与E有关。年代与公共设施的非G关联为0.042，单项直接关联δ为0.038，净化后仍为0.027，空间块区间0.007到0.049，保留小幅额外内容线索。停车未显示额外对应，绿化的单项空间区间与近似检验不一致且净化未保留，品质净化振荡。路径尺度是当前样本标准化属性与生成残差，不是IRR或因果直接效应；非G还含模型未解释部分。不同参照的相对对照与潜变量结果不能直接视为同一检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拆分与细拆分中，GE通过诊断而GEH均为边界解，不能仅凭GEH更低的BIC宣布H稳定。年代GEH的Ma、Mb自身诊断通过，可作为条件于该模型的补充。图中年代非G关联及95%区间分别为道路0.061、0.023到0.094；照明0.063、0.021到0.095；配置0.012、负0.017到0.036；下水0.124、0.086到0.153；供暖0.071、0.033到0.103；电梯负0.142、负0.179到负0.116。H路径点估计虽约0.45，但区间宽且含零。道路照明在后续净化未稳定保留，这些补充结果不能修复测量模型的边界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探索显示，诉求记录对部分环境差异有所反映，年代与公共设施的条件关联最稳定，而其他环境维度更弱或依赖设定。平均关联未转化为较强的样本内排序识别能力。不同环境类别既存在共同变化，也保留下水和年代公共设施等内容线索，但尚不能将其分解为实测客观问题与表达意愿。NB2保留局部空间残差，CAR、GEH及部分净化存在未通过诊断的结果。样本并非随机覆盖，环境属性是代理，多源匹配和记录完整性可能带来误差。后续若判断实际问题遗漏或表达不足，需要独立核查、设备暴露数据或样本外验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次探索独立考察房龄与基础居住问题、居住配套诉求的关系，以及物业公司记录与挂牌房价的条件调节。房龄定义为2025减AOI内有效属性记录平均建成年份，不取整，回归按每10年解释。分析顺序为两组分类构建、描述与空间对应、联合PPML比较、交互与稳健性。这里比较同年度不同房龄小区，不是追踪同一小区十年变化，也没有实测故障或居民预期指标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组采用房屋滴漏、墙体地面开裂、下水管道堵塞、线路老化、危险房屋、地基下陷六类，房屋滴漏占71.73%，该六类仍是操作性口径。配套组采用停车位、小区内停车设施、健身器材和公共照明四类，两类停车合计75.70%。两组不共享三级分类，小区路灯只用于扩展敏感性。主口径不含停车秩序、绿地、收费或加装电梯。配套诉求可以混合损坏、供给不足、新增要求，不能视为纯故障；组层面结论也不代表每个细分类别规律一致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共同主样本6335个，用于描述和较大样本M1；扩展控制完整后为6244个，M0至M3在同样本上比较。年代覆盖完整样本6232个，名称核验4238个。raw与按AOI、三级分类和自然日去重的样本一致，全部保留有效零值。联合PPML允许两组各有截距、房龄及所有控制系数，点估计等价于两条独立PPML，差异推断使用联合协方差。M0控制规模，M1加入区位，M2加入房价、商品房比例和物业记录，M3加入房龄与房价及物业的两项交互，没有三重交互。主推断采用3公里Conley及按检验族组织的BH校正。户数并非offset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6335个AOI中，基础问题原始计数43431件，配套41025件，总量接近；均值分别6.86和6.48，中位数3和2。零诉求比例分别25.45%与29.30%，前10%小区承载49.94%与53.98%，配套更集中。方差均值比分别21.93和31.98，日去重总量为38695和36648。描述样本平均房龄23.50年、中位数23年，户数中位数721。方差均值比反映过度离散，但不能单凭它决定模型，日去重也不是独立事件或居民人数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年代组按AOI平均建成年份划分。总和口径每千户基础诉求依次8.52、8.40、7.35、6.35、6.25，配套分别6.87、5.69、6.88、6.25、6.17。基础组年代梯度较清楚，配套并不单调。每千户简单相关基础0.019，其区间跨零；配套负0.035很弱且日去重后跨零。控制规模、行政区和空间趋势后的计数偏秩分别0.123与0.086，差0.036，空间块区间0.010到0.061。相关仍较弱。描述率与计数偏秩的结局口径不同，变化不能全部归因于加入区位控制。年代组差异也不是同一住区的老化轨迹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使用1公里网格，背景1918个，其中至少含3个共同样本AOI的有效网格811个。网格房龄为AOI等权平均，诉求强度采用总量除以户数总量。基础组相关0.078，配套负0.022，均是未经调整的描述，没有推断区间。本页列同高、同低和两种不一致类型的网格数量，其他混合类型未列出。两组共用房龄三分位阈值20.00和25.33年，各自采用诉求阈值。房龄高而诉求低可能涉及实际状况、维修、设施存量、表达或匹配及尺度，不代表遗漏或识别错误率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共同6244个AOI中，M0基础与配套房龄IRR分别1.151和1.069，M1为1.159和1.074，M2为1.157和1.077，逐步控制后变化较小。M2房龄增加10年与基础预期数量增加15.7%相关，区间9.8%到22.0%；配套增加7.7%，区间2.3%到13.5%，两组q分别小于0.001与0.008。直接比较IRR之比为1.074，区间1.011到1.141，q为0.020，支持基础梯度更强。IRR比不是说基础诉求总量比配套高7.4%，也不是实际十年变化的因果效应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3在挂牌价中位数约59838.50处，无物业记录时房龄每10年与基础诉求增加17.8%相关，区间8.8%到27.5%，配套为负5.2%，区间负13.1%到3.6%。有记录时分别增加15.0%与11.5%，区间8.2%到22.2%及5.1%到18.3%。情景区间未经多重校正，调节应看直接交互检验：基础交互q为0.701，配套0.013，两类交互差0.013，联合交互q为0.013。17.8和15.0的数值差不能作为物业减缓基础问题的证据；无公司记录不等于没有服务，更不能将此解释为物业导致更多问题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房龄与挂牌价对数的交互系数基础0.0649、配套0.0655，方向均正但BH q均为0.286。两组联合检验q为0.361，两组交互差q为0.991，现有结果不足以确认价格调节或两类之间的调节差异。价格情景P25约39531.50、P50约59838.50、P75约95411.25，是同一连续交互模型的取值，不是分别拟合三个价格组。未设房价、物业、房龄的三重交互。调节不显著不等于价格本身与诉求无关，后者不在这里作结论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日去重后基础与配套每10年变化为16.2%和9.7%，两组差q为0.025；年代完整样本为15.6%和7.6%，差q为0.019；名称核验为12.8%和6.7%，差q为0.158；配套含路灯为15.7%和8.8%，差q为0.040。各口径两类房龄关联均正向且通过BH校正，但类别梯度差异在名称核验样本中未达到5%标准。不能区分该变化来自样本选择、精度下降还是匹配差异。M3配套物业交互在所有这些口径中q低于0.05，基础物业交互仍不明确。表中百分比与组间差来自M2，物业交互来自M3，不能混作同一规格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16个联合模型均成功，64组空间协方差记录完成且无负特征值，最大相对PSD修复约2.66乘10的负15次方。1、2、3、5公里带宽下，两类M2房龄效应均显著，组间差异q约0.017到0.020，M3物业主要判断一致。这支持数值估计和空间推断的稳定性，不证明条件均值设定正确或残差无空间关联。报告尚未完整提供年代分类模型、调整后预测曲线、年代标准化预测、残差Moran和预测支持核查，因此不对其形态、水平和显著性作经验结论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探索主样本及多数敏感性结果支持两类房龄关联不同，基础问题梯度更强。物业记录的条件差异主要体现在更强的配套诉求房龄关联，没有证据证明物业显著压低基础问题梯度；挂牌房价调节未获稳定支持。基础以滴漏为主，配套以停车为主，因此不能把两组直接等同于客观问题与主观预期。研究比较同年度不同房龄小区，不追踪同一小区十年老化，也缺少实际故障、设施暴露与表达意愿测量。物业记录是代理，挂牌价并非收入或成交价，空间控制及稳健协方差均不替代因果识别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eijing_midte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eijing_midte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3115437" cy="851154"/>
            <a:chOff x="558546" y="377825"/>
            <a:chExt cx="3115437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543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环境属性与12345诉求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44216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研究问题与分析流程</a:t>
              </a:r>
            </a:p>
          </p:txBody>
        </p:sp>
      </p:grpSp>
      <p:grpSp>
        <p:nvGrpSpPr>
          <p:cNvPr id="7" name="questions"/>
          <p:cNvGrpSpPr/>
          <p:nvPr/>
        </p:nvGrpSpPr>
        <p:grpSpPr>
          <a:xfrm>
            <a:off x="561594" y="1739900"/>
            <a:ext cx="7107555" cy="819531"/>
            <a:chOff x="561594" y="1739900"/>
            <a:chExt cx="7107555" cy="819531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39900"/>
              <a:ext cx="52329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环境属性与对应诉求是否相关？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1594" y="2178050"/>
              <a:ext cx="100105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诉求能否识别环境不利小区？共同变化是否具有内容特异性？</a:t>
              </a:r>
            </a:p>
          </p:txBody>
        </p:sp>
      </p:grpSp>
      <p:grpSp>
        <p:nvGrpSpPr>
          <p:cNvPr id="23" name="analysis-stages"/>
          <p:cNvGrpSpPr/>
          <p:nvPr/>
        </p:nvGrpSpPr>
        <p:grpSpPr>
          <a:xfrm>
            <a:off x="553212" y="3289300"/>
            <a:ext cx="10281285" cy="1392682"/>
            <a:chOff x="553212" y="3289300"/>
            <a:chExt cx="10281285" cy="1392682"/>
          </a:xfrm>
        </p:grpSpPr>
        <p:sp>
          <p:nvSpPr>
            <p:cNvPr id="8" name="TextBox 8"/>
            <p:cNvSpPr txBox="1"/>
            <p:nvPr/>
          </p:nvSpPr>
          <p:spPr>
            <a:xfrm>
              <a:off x="553212" y="3289300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4006850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描述统计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359275"/>
              <a:ext cx="1638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与空间对应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39212" y="3289300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49118" y="4006850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环境关联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49118" y="4359275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与样本内识别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25212" y="3289300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5118" y="4006850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计数模型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5118" y="4359275"/>
              <a:ext cx="1638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比较与诊断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1212" y="3289300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1118" y="4006850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共同残差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1118" y="4359275"/>
              <a:ext cx="1638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与相对对照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97212" y="3289300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07118" y="4006850"/>
              <a:ext cx="10163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潜变量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07118" y="4359275"/>
              <a:ext cx="1638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与内容关联</a:t>
              </a:r>
            </a:p>
          </p:txBody>
        </p:sp>
      </p:grpSp>
      <p:grpSp>
        <p:nvGrpSpPr>
          <p:cNvPr id="25" name="scope"/>
          <p:cNvGrpSpPr/>
          <p:nvPr/>
        </p:nvGrpSpPr>
        <p:grpSpPr>
          <a:xfrm>
            <a:off x="563118" y="5854700"/>
            <a:ext cx="5610822" cy="322707"/>
            <a:chOff x="563118" y="5854700"/>
            <a:chExt cx="561082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563118" y="5854700"/>
              <a:ext cx="79151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2025年诉求记录 × 北京小区AOI　｜　报告第三至第六步</a:t>
              </a:r>
            </a:p>
          </p:txBody>
        </p:sp>
      </p:grpSp>
      <p:sp>
        <p:nvSpPr>
          <p:cNvPr id="26" name="source"/>
          <p:cNvSpPr txBox="1"/>
          <p:nvPr/>
        </p:nvSpPr>
        <p:spPr>
          <a:xfrm>
            <a:off x="565404" y="6419850"/>
            <a:ext cx="64356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来源：《北京小区环境与12345诉求分析报告 v3》概述、第三章</a:t>
            </a:r>
          </a:p>
        </p:txBody>
      </p:sp>
      <p:sp>
        <p:nvSpPr>
          <p:cNvPr id="27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 / 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145280" cy="851154"/>
            <a:chOff x="558546" y="377825"/>
            <a:chExt cx="4145280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326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数据与指标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8633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数据构建、变量与分析样本</a:t>
              </a:r>
            </a:p>
          </p:txBody>
        </p:sp>
      </p:grpSp>
      <p:grpSp>
        <p:nvGrpSpPr>
          <p:cNvPr id="11" name="sample-counts"/>
          <p:cNvGrpSpPr/>
          <p:nvPr/>
        </p:nvGrpSpPr>
        <p:grpSpPr>
          <a:xfrm>
            <a:off x="553212" y="1555750"/>
            <a:ext cx="8979408" cy="964057"/>
            <a:chOff x="553212" y="1555750"/>
            <a:chExt cx="8979408" cy="964057"/>
          </a:xfrm>
        </p:grpSpPr>
        <p:sp>
          <p:nvSpPr>
            <p:cNvPr id="5" name="TextBox 5"/>
            <p:cNvSpPr txBox="1"/>
            <p:nvPr/>
          </p:nvSpPr>
          <p:spPr>
            <a:xfrm>
              <a:off x="553212" y="155575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9,973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197100"/>
              <a:ext cx="1271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底表AOI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63212" y="155575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9,628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73118" y="2197100"/>
              <a:ext cx="2204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可计数北京AOI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73212" y="155575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6,341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83118" y="2197100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基础分析样本</a:t>
              </a:r>
            </a:p>
          </p:txBody>
        </p:sp>
      </p:grpSp>
      <p:grpSp>
        <p:nvGrpSpPr>
          <p:cNvPr id="32" name="dimension-samples"/>
          <p:cNvGrpSpPr/>
          <p:nvPr/>
        </p:nvGrpSpPr>
        <p:grpSpPr>
          <a:xfrm>
            <a:off x="563118" y="2930525"/>
            <a:ext cx="6961632" cy="2503932"/>
            <a:chOff x="563118" y="2930525"/>
            <a:chExt cx="6961632" cy="2503932"/>
          </a:xfrm>
        </p:grpSpPr>
        <p:grpSp>
          <p:nvGrpSpPr>
            <p:cNvPr id="31" name="Group 31"/>
            <p:cNvGrpSpPr/>
            <p:nvPr/>
          </p:nvGrpSpPr>
          <p:grpSpPr>
            <a:xfrm>
              <a:off x="563118" y="2930525"/>
              <a:ext cx="6961632" cy="2503932"/>
              <a:chOff x="563118" y="2930525"/>
              <a:chExt cx="6961632" cy="250393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63118" y="2930525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环境维度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58618" y="2930525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对应诉求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182868" y="2930525"/>
                <a:ext cx="12714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有效AOI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3295650"/>
                <a:ext cx="6953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53250" h="9525">
                    <a:moveTo>
                      <a:pt x="0" y="0"/>
                    </a:moveTo>
                    <a:lnTo>
                      <a:pt x="6953250" y="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118" y="34353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总体品质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58618" y="3435350"/>
                <a:ext cx="13623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21类合计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82868" y="34353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5,561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3118" y="38544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建成年代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58618" y="38544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公共设施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182868" y="38544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6,335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63118" y="42735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停车供给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58618" y="4273550"/>
                <a:ext cx="22084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停车秩序 / 设施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82868" y="42735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3,840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18" y="4692650"/>
                <a:ext cx="10163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绿化率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658618" y="4692650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82868" y="46926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2,668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3118" y="5111750"/>
                <a:ext cx="10163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容积率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658618" y="51117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规划密度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182868" y="51117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5,917</a:t>
                </a:r>
              </a:p>
            </p:txBody>
          </p:sp>
        </p:grpSp>
      </p:grpSp>
      <p:grpSp>
        <p:nvGrpSpPr>
          <p:cNvPr id="39" name="measurement"/>
          <p:cNvGrpSpPr/>
          <p:nvPr/>
        </p:nvGrpSpPr>
        <p:grpSpPr>
          <a:xfrm>
            <a:off x="8086344" y="2901950"/>
            <a:ext cx="2746665" cy="2607183"/>
            <a:chOff x="8086344" y="2901950"/>
            <a:chExt cx="2746665" cy="2607183"/>
          </a:xfrm>
        </p:grpSpPr>
        <p:sp>
          <p:nvSpPr>
            <p:cNvPr id="33" name="TextBox 33"/>
            <p:cNvSpPr txBox="1"/>
            <p:nvPr/>
          </p:nvSpPr>
          <p:spPr>
            <a:xfrm>
              <a:off x="8086344" y="2901950"/>
              <a:ext cx="22928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统一处理口径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7868" y="3435350"/>
              <a:ext cx="3158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点落面匹配 · 属性聚合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87868" y="3892550"/>
              <a:ext cx="3400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21类 → 六组＋单列类别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7868" y="4349750"/>
              <a:ext cx="31931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主体回归使用原始计数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7868" y="4806950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日去重用于分布对照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9392" y="5245100"/>
              <a:ext cx="3862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去重单位：AOI×三级分类×自然日</a:t>
              </a:r>
            </a:p>
          </p:txBody>
        </p:sp>
      </p:grpSp>
      <p:grpSp>
        <p:nvGrpSpPr>
          <p:cNvPr id="41" name="caution"/>
          <p:cNvGrpSpPr/>
          <p:nvPr/>
        </p:nvGrpSpPr>
        <p:grpSpPr>
          <a:xfrm>
            <a:off x="563118" y="5854700"/>
            <a:ext cx="5641519" cy="322707"/>
            <a:chOff x="563118" y="5854700"/>
            <a:chExt cx="5641519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563118" y="5854700"/>
              <a:ext cx="79581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各维度有效样本不同；共同五项完整样本仅1,632个AOI。</a:t>
              </a:r>
            </a:p>
          </p:txBody>
        </p:sp>
      </p:grpSp>
      <p:sp>
        <p:nvSpPr>
          <p:cNvPr id="42" name="source"/>
          <p:cNvSpPr txBox="1"/>
          <p:nvPr/>
        </p:nvSpPr>
        <p:spPr>
          <a:xfrm>
            <a:off x="565404" y="6419850"/>
            <a:ext cx="64864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第一、二章，表1—3；n_env05仅进入21类合计</a:t>
            </a:r>
          </a:p>
        </p:txBody>
      </p:sp>
      <p:sp>
        <p:nvSpPr>
          <p:cNvPr id="43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A2 / 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175123" cy="851154"/>
            <a:chOff x="558546" y="377825"/>
            <a:chExt cx="5175123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07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描述统计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305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诉求分布：零值、集中与过度离散</a:t>
              </a:r>
            </a:p>
          </p:txBody>
        </p:sp>
      </p:grpSp>
      <p:grpSp>
        <p:nvGrpSpPr>
          <p:cNvPr id="30" name="complaint-counts"/>
          <p:cNvGrpSpPr/>
          <p:nvPr/>
        </p:nvGrpSpPr>
        <p:grpSpPr>
          <a:xfrm>
            <a:off x="563118" y="1644650"/>
            <a:ext cx="7668494" cy="3940683"/>
            <a:chOff x="563118" y="1644650"/>
            <a:chExt cx="7668494" cy="3940683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644650"/>
              <a:ext cx="31413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六组原始诉求数量 / 件</a:t>
              </a:r>
            </a:p>
          </p:txBody>
        </p:sp>
        <p:grpSp>
          <p:nvGrpSpPr>
            <p:cNvPr id="14" name="complaint-counts-chartArea"/>
            <p:cNvGrpSpPr/>
            <p:nvPr/>
          </p:nvGrpSpPr>
          <p:grpSpPr>
            <a:xfrm>
              <a:off x="2095500" y="2114550"/>
              <a:ext cx="5331809" cy="3105150"/>
              <a:chOff x="2095500" y="2114550"/>
              <a:chExt cx="5331809" cy="310515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095500" y="2114550"/>
                <a:ext cx="9525" cy="3105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5150">
                    <a:moveTo>
                      <a:pt x="0" y="0"/>
                    </a:moveTo>
                    <a:lnTo>
                      <a:pt x="0" y="310515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2095500" y="2190750"/>
                <a:ext cx="5331809" cy="2771775"/>
                <a:chOff x="2095500" y="2190750"/>
                <a:chExt cx="5331809" cy="2771775"/>
              </a:xfrm>
            </p:grpSpPr>
            <p:sp>
              <p:nvSpPr>
                <p:cNvPr id="7" name="Rectangle 7"/>
                <p:cNvSpPr/>
                <p:nvPr/>
              </p:nvSpPr>
              <p:spPr>
                <a:xfrm>
                  <a:off x="2095500" y="2190750"/>
                  <a:ext cx="4198048" cy="247650"/>
                </a:xfrm>
                <a:prstGeom prst="rect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8" name="Rectangle 8"/>
                <p:cNvSpPr/>
                <p:nvPr/>
              </p:nvSpPr>
              <p:spPr>
                <a:xfrm>
                  <a:off x="2095500" y="2695575"/>
                  <a:ext cx="5331809" cy="247650"/>
                </a:xfrm>
                <a:prstGeom prst="rect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9" name="Rectangle 9"/>
                <p:cNvSpPr/>
                <p:nvPr/>
              </p:nvSpPr>
              <p:spPr>
                <a:xfrm>
                  <a:off x="2095500" y="3200400"/>
                  <a:ext cx="4607242" cy="247650"/>
                </a:xfrm>
                <a:prstGeom prst="rect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0" name="Rectangle 10"/>
                <p:cNvSpPr/>
                <p:nvPr/>
              </p:nvSpPr>
              <p:spPr>
                <a:xfrm>
                  <a:off x="2095500" y="3705225"/>
                  <a:ext cx="2448592" cy="247650"/>
                </a:xfrm>
                <a:prstGeom prst="rect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1" name="Rectangle 11"/>
                <p:cNvSpPr/>
                <p:nvPr/>
              </p:nvSpPr>
              <p:spPr>
                <a:xfrm>
                  <a:off x="2095500" y="4210050"/>
                  <a:ext cx="5157406" cy="247650"/>
                </a:xfrm>
                <a:prstGeom prst="rect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2" name="Rectangle 12"/>
                <p:cNvSpPr/>
                <p:nvPr/>
              </p:nvSpPr>
              <p:spPr>
                <a:xfrm>
                  <a:off x="2095500" y="4714875"/>
                  <a:ext cx="208978" cy="247650"/>
                </a:xfrm>
                <a:prstGeom prst="rect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563118" y="2197100"/>
              <a:ext cx="7668494" cy="2846832"/>
              <a:chOff x="563118" y="2197100"/>
              <a:chExt cx="7668494" cy="284683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63118" y="219710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停车秩序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118" y="2701925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停车设施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63118" y="32067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卫生垃圾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63118" y="371157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3118" y="421640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公共设施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3118" y="4721225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规划密度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01943" y="2197100"/>
                <a:ext cx="1034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25,710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35418" y="2701925"/>
                <a:ext cx="1034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32,653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1518" y="3206750"/>
                <a:ext cx="1034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28,216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58868" y="3711575"/>
                <a:ext cx="1034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14,996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363968" y="4216400"/>
                <a:ext cx="1034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31,585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420493" y="472122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1,280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88642" y="5321300"/>
              <a:ext cx="220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59900" y="5321300"/>
              <a:ext cx="857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35,000</a:t>
              </a:r>
            </a:p>
          </p:txBody>
        </p:sp>
      </p:grpSp>
      <p:grpSp>
        <p:nvGrpSpPr>
          <p:cNvPr id="38" name="distribution-metrics"/>
          <p:cNvGrpSpPr/>
          <p:nvPr/>
        </p:nvGrpSpPr>
        <p:grpSpPr>
          <a:xfrm>
            <a:off x="8792337" y="1584325"/>
            <a:ext cx="2248255" cy="3792982"/>
            <a:chOff x="8792337" y="1584325"/>
            <a:chExt cx="2248255" cy="3792982"/>
          </a:xfrm>
        </p:grpSpPr>
        <p:sp>
          <p:nvSpPr>
            <p:cNvPr id="31" name="TextBox 31"/>
            <p:cNvSpPr txBox="1"/>
            <p:nvPr/>
          </p:nvSpPr>
          <p:spPr>
            <a:xfrm>
              <a:off x="8792337" y="1584325"/>
              <a:ext cx="25639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137,542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02243" y="2187575"/>
              <a:ext cx="1932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21类合计 / 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92337" y="2670175"/>
              <a:ext cx="2035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13.8%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02243" y="3273425"/>
              <a:ext cx="1638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零诉求小区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92337" y="3756025"/>
              <a:ext cx="2035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47.8%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02243" y="4359275"/>
              <a:ext cx="31497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前10%小区的记录占比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02243" y="5054600"/>
              <a:ext cx="25027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方差 / 均值＝56.3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63118" y="5854700"/>
            <a:ext cx="4903470" cy="322707"/>
            <a:chOff x="563118" y="5854700"/>
            <a:chExt cx="4903470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563118" y="5854700"/>
              <a:ext cx="69248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少数小区承载较多诉求；规划密度类别尤其稀疏。</a:t>
              </a:r>
            </a:p>
          </p:txBody>
        </p:sp>
      </p:grpSp>
      <p:sp>
        <p:nvSpPr>
          <p:cNvPr id="41" name="source"/>
          <p:cNvSpPr txBox="1"/>
          <p:nvPr/>
        </p:nvSpPr>
        <p:spPr>
          <a:xfrm>
            <a:off x="565404" y="6419850"/>
            <a:ext cx="74043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表5—6；n＝6,341，六组合计另加n_env05构成21类总量</a:t>
            </a:r>
          </a:p>
        </p:txBody>
      </p:sp>
      <p:sp>
        <p:nvSpPr>
          <p:cNvPr id="42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A3 / 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初步关联与空间对应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环境属性与对应诉求的相关程度</a:t>
              </a:r>
            </a:p>
          </p:txBody>
        </p:sp>
      </p:grpSp>
      <p:grpSp>
        <p:nvGrpSpPr>
          <p:cNvPr id="39" name="rank-intervals"/>
          <p:cNvGrpSpPr/>
          <p:nvPr/>
        </p:nvGrpSpPr>
        <p:grpSpPr>
          <a:xfrm>
            <a:off x="563118" y="1701800"/>
            <a:ext cx="7750869" cy="3874008"/>
            <a:chOff x="563118" y="1701800"/>
            <a:chExt cx="7750869" cy="387400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01800"/>
              <a:ext cx="4126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完整空间偏秩相关及95%区间</a:t>
              </a:r>
            </a:p>
          </p:txBody>
        </p:sp>
        <p:grpSp>
          <p:nvGrpSpPr>
            <p:cNvPr id="21" name="rank-intervals-chartArea"/>
            <p:cNvGrpSpPr/>
            <p:nvPr/>
          </p:nvGrpSpPr>
          <p:grpSpPr>
            <a:xfrm>
              <a:off x="3076956" y="2190750"/>
              <a:ext cx="3657600" cy="2952750"/>
              <a:chOff x="3076956" y="2190750"/>
              <a:chExt cx="3657600" cy="295275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3771900" y="2190750"/>
                <a:ext cx="9525" cy="2952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52750">
                    <a:moveTo>
                      <a:pt x="0" y="0"/>
                    </a:moveTo>
                    <a:lnTo>
                      <a:pt x="0" y="295275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3076956" y="2476500"/>
                <a:ext cx="3657600" cy="2486025"/>
                <a:chOff x="3076956" y="2476500"/>
                <a:chExt cx="3657600" cy="2486025"/>
              </a:xfrm>
            </p:grpSpPr>
            <p:sp>
              <p:nvSpPr>
                <p:cNvPr id="7" name="Line 7"/>
                <p:cNvSpPr/>
                <p:nvPr/>
              </p:nvSpPr>
              <p:spPr>
                <a:xfrm>
                  <a:off x="4539996" y="2476500"/>
                  <a:ext cx="117043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0432" h="9525">
                      <a:moveTo>
                        <a:pt x="0" y="0"/>
                      </a:moveTo>
                      <a:lnTo>
                        <a:pt x="1170432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" name="Line 8"/>
                <p:cNvSpPr/>
                <p:nvPr/>
              </p:nvSpPr>
              <p:spPr>
                <a:xfrm>
                  <a:off x="5801868" y="2971800"/>
                  <a:ext cx="932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688" h="9525">
                      <a:moveTo>
                        <a:pt x="0" y="0"/>
                      </a:moveTo>
                      <a:lnTo>
                        <a:pt x="932688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9" name="Line 9"/>
                <p:cNvSpPr/>
                <p:nvPr/>
              </p:nvSpPr>
              <p:spPr>
                <a:xfrm>
                  <a:off x="5033772" y="3467100"/>
                  <a:ext cx="126187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872" h="9525">
                      <a:moveTo>
                        <a:pt x="0" y="0"/>
                      </a:moveTo>
                      <a:lnTo>
                        <a:pt x="1261872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0" name="Line 10"/>
                <p:cNvSpPr/>
                <p:nvPr/>
              </p:nvSpPr>
              <p:spPr>
                <a:xfrm>
                  <a:off x="4210812" y="3962400"/>
                  <a:ext cx="122529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5296" h="9525">
                      <a:moveTo>
                        <a:pt x="0" y="0"/>
                      </a:moveTo>
                      <a:lnTo>
                        <a:pt x="1225296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1" name="Line 11"/>
                <p:cNvSpPr/>
                <p:nvPr/>
              </p:nvSpPr>
              <p:spPr>
                <a:xfrm>
                  <a:off x="3076956" y="4457700"/>
                  <a:ext cx="14813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328" h="9525">
                      <a:moveTo>
                        <a:pt x="0" y="0"/>
                      </a:moveTo>
                      <a:lnTo>
                        <a:pt x="1481328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2" name="Line 12"/>
                <p:cNvSpPr/>
                <p:nvPr/>
              </p:nvSpPr>
              <p:spPr>
                <a:xfrm>
                  <a:off x="3278124" y="4953000"/>
                  <a:ext cx="87782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24" h="9525">
                      <a:moveTo>
                        <a:pt x="0" y="0"/>
                      </a:moveTo>
                      <a:lnTo>
                        <a:pt x="877824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3678174" y="2419350"/>
                <a:ext cx="2674620" cy="2590800"/>
                <a:chOff x="3678174" y="2419350"/>
                <a:chExt cx="2674620" cy="2590800"/>
              </a:xfrm>
            </p:grpSpPr>
            <p:sp>
              <p:nvSpPr>
                <p:cNvPr id="14" name="Ellipse 14"/>
                <p:cNvSpPr/>
                <p:nvPr/>
              </p:nvSpPr>
              <p:spPr>
                <a:xfrm>
                  <a:off x="5086350" y="24193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5" name="Ellipse 15"/>
                <p:cNvSpPr/>
                <p:nvPr/>
              </p:nvSpPr>
              <p:spPr>
                <a:xfrm>
                  <a:off x="6238494" y="29146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6" name="Ellipse 16"/>
                <p:cNvSpPr/>
                <p:nvPr/>
              </p:nvSpPr>
              <p:spPr>
                <a:xfrm>
                  <a:off x="5616702" y="34099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7" name="Ellipse 17"/>
                <p:cNvSpPr/>
                <p:nvPr/>
              </p:nvSpPr>
              <p:spPr>
                <a:xfrm>
                  <a:off x="4775454" y="39052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8" name="Ellipse 18"/>
                <p:cNvSpPr/>
                <p:nvPr/>
              </p:nvSpPr>
              <p:spPr>
                <a:xfrm>
                  <a:off x="3769614" y="44005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9" name="Ellipse 19"/>
                <p:cNvSpPr/>
                <p:nvPr/>
              </p:nvSpPr>
              <p:spPr>
                <a:xfrm>
                  <a:off x="3678174" y="48958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34" name="Group 34"/>
            <p:cNvGrpSpPr/>
            <p:nvPr/>
          </p:nvGrpSpPr>
          <p:grpSpPr>
            <a:xfrm>
              <a:off x="563118" y="2349500"/>
              <a:ext cx="7750869" cy="2799207"/>
              <a:chOff x="563118" y="2349500"/>
              <a:chExt cx="7750869" cy="279920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63118" y="2349500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品质—总量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3118" y="2844800"/>
                <a:ext cx="22602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年代—公共设施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3118" y="3340100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停车—秩序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18" y="3835400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停车—设施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63118" y="4330700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绿化—绿地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3118" y="4826000"/>
                <a:ext cx="19493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容积率—密度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11618" y="23495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0.075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1618" y="28448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0.138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1618" y="33401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0.104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11618" y="38354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0.058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11618" y="43307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0.003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1618" y="4826000"/>
                <a:ext cx="104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−0.002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850642" y="5311775"/>
              <a:ext cx="4585716" cy="264033"/>
              <a:chOff x="2850642" y="5311775"/>
              <a:chExt cx="4585716" cy="26403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2850642" y="5311775"/>
                <a:ext cx="7230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−0.05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661542" y="5311775"/>
                <a:ext cx="2207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861930" y="531177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0.20</a:t>
                </a:r>
              </a:p>
            </p:txBody>
          </p:sp>
        </p:grpSp>
      </p:grpSp>
      <p:grpSp>
        <p:nvGrpSpPr>
          <p:cNvPr id="47" name="grid-summary"/>
          <p:cNvGrpSpPr/>
          <p:nvPr/>
        </p:nvGrpSpPr>
        <p:grpSpPr>
          <a:xfrm>
            <a:off x="8935212" y="1701800"/>
            <a:ext cx="1600767" cy="3618357"/>
            <a:chOff x="8935212" y="1701800"/>
            <a:chExt cx="1600767" cy="3618357"/>
          </a:xfrm>
        </p:grpSpPr>
        <p:sp>
          <p:nvSpPr>
            <p:cNvPr id="40" name="TextBox 40"/>
            <p:cNvSpPr txBox="1"/>
            <p:nvPr/>
          </p:nvSpPr>
          <p:spPr>
            <a:xfrm>
              <a:off x="8945118" y="1701800"/>
              <a:ext cx="2122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1公里网格相关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5212" y="216535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0.185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5118" y="2768600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年代—公共设施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35212" y="3279775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0.124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5118" y="3883025"/>
              <a:ext cx="1638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品质—总量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5118" y="4549775"/>
              <a:ext cx="1976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绿化：−0.031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45118" y="4997450"/>
              <a:ext cx="2287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容积率：−0.029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63118" y="5854700"/>
            <a:ext cx="5347716" cy="322707"/>
            <a:chOff x="563118" y="5854700"/>
            <a:chExt cx="5347716" cy="322707"/>
          </a:xfrm>
        </p:grpSpPr>
        <p:sp>
          <p:nvSpPr>
            <p:cNvPr id="48" name="TextBox 48"/>
            <p:cNvSpPr txBox="1"/>
            <p:nvPr/>
          </p:nvSpPr>
          <p:spPr>
            <a:xfrm>
              <a:off x="563118" y="5854700"/>
              <a:ext cx="75468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年代关联在共同指标样本中保留；空间对应整体较弱。</a:t>
              </a:r>
            </a:p>
          </p:txBody>
        </p:sp>
      </p:grpSp>
      <p:sp>
        <p:nvSpPr>
          <p:cNvPr id="50" name="source"/>
          <p:cNvSpPr txBox="1"/>
          <p:nvPr/>
        </p:nvSpPr>
        <p:spPr>
          <a:xfrm>
            <a:off x="565404" y="6419850"/>
            <a:ext cx="67240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表7—9；属性均为问题方向，区间未校正多重比较</a:t>
            </a:r>
          </a:p>
        </p:txBody>
      </p:sp>
      <p:sp>
        <p:nvSpPr>
          <p:cNvPr id="51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A4 / 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932230" cy="851154"/>
            <a:chOff x="558546" y="377825"/>
            <a:chExt cx="4932230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816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PPML条件关联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9651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连续环境属性效应：完整控制E4</a:t>
              </a:r>
            </a:p>
          </p:txBody>
        </p:sp>
      </p:grpSp>
      <p:grpSp>
        <p:nvGrpSpPr>
          <p:cNvPr id="6" name="controls"/>
          <p:cNvGrpSpPr/>
          <p:nvPr/>
        </p:nvGrpSpPr>
        <p:grpSpPr>
          <a:xfrm>
            <a:off x="563118" y="1606550"/>
            <a:ext cx="6705154" cy="322707"/>
            <a:chOff x="563118" y="1606550"/>
            <a:chExt cx="6705154" cy="322707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606550"/>
              <a:ext cx="94472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规模 → 行政区与空间趋势 → 房龄、商品房比例、挂牌价、物业记录</a:t>
              </a:r>
            </a:p>
          </p:txBody>
        </p:sp>
      </p:grpSp>
      <p:grpSp>
        <p:nvGrpSpPr>
          <p:cNvPr id="43" name="irr-intervals"/>
          <p:cNvGrpSpPr/>
          <p:nvPr/>
        </p:nvGrpSpPr>
        <p:grpSpPr>
          <a:xfrm>
            <a:off x="563118" y="2197100"/>
            <a:ext cx="10306896" cy="3340608"/>
            <a:chOff x="563118" y="2197100"/>
            <a:chExt cx="10306896" cy="3340608"/>
          </a:xfrm>
        </p:grpSpPr>
        <p:grpSp>
          <p:nvGrpSpPr>
            <p:cNvPr id="9" name="Group 9"/>
            <p:cNvGrpSpPr/>
            <p:nvPr/>
          </p:nvGrpSpPr>
          <p:grpSpPr>
            <a:xfrm>
              <a:off x="563118" y="2197100"/>
              <a:ext cx="10278926" cy="322707"/>
              <a:chOff x="563118" y="2197100"/>
              <a:chExt cx="10278926" cy="32270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63118" y="219710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对应关系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087993" y="2197100"/>
                <a:ext cx="2515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IRR［95%区间］</a:t>
                </a:r>
              </a:p>
            </p:txBody>
          </p:sp>
        </p:grpSp>
        <p:grpSp>
          <p:nvGrpSpPr>
            <p:cNvPr id="25" name="irr-intervals-chartArea"/>
            <p:cNvGrpSpPr/>
            <p:nvPr/>
          </p:nvGrpSpPr>
          <p:grpSpPr>
            <a:xfrm>
              <a:off x="4457700" y="2590800"/>
              <a:ext cx="3257550" cy="2628900"/>
              <a:chOff x="4457700" y="2590800"/>
              <a:chExt cx="3257550" cy="2628900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5238750" y="2590800"/>
                <a:ext cx="9525" cy="262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28900">
                    <a:moveTo>
                      <a:pt x="0" y="0"/>
                    </a:moveTo>
                    <a:lnTo>
                      <a:pt x="0" y="262890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4457700" y="2781300"/>
                <a:ext cx="2276475" cy="2200275"/>
                <a:chOff x="4457700" y="2781300"/>
                <a:chExt cx="2276475" cy="2200275"/>
              </a:xfrm>
            </p:grpSpPr>
            <p:sp>
              <p:nvSpPr>
                <p:cNvPr id="11" name="Line 11"/>
                <p:cNvSpPr/>
                <p:nvPr/>
              </p:nvSpPr>
              <p:spPr>
                <a:xfrm>
                  <a:off x="5286375" y="2781300"/>
                  <a:ext cx="11334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3475" h="9525">
                      <a:moveTo>
                        <a:pt x="0" y="0"/>
                      </a:moveTo>
                      <a:lnTo>
                        <a:pt x="1133475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2" name="Line 12"/>
                <p:cNvSpPr/>
                <p:nvPr/>
              </p:nvSpPr>
              <p:spPr>
                <a:xfrm>
                  <a:off x="5095875" y="3657600"/>
                  <a:ext cx="1181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100" h="9525">
                      <a:moveTo>
                        <a:pt x="0" y="0"/>
                      </a:moveTo>
                      <a:lnTo>
                        <a:pt x="1181100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Line 13"/>
                <p:cNvSpPr/>
                <p:nvPr/>
              </p:nvSpPr>
              <p:spPr>
                <a:xfrm>
                  <a:off x="5143500" y="4095750"/>
                  <a:ext cx="1409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9700" h="9525">
                      <a:moveTo>
                        <a:pt x="0" y="0"/>
                      </a:moveTo>
                      <a:lnTo>
                        <a:pt x="1409700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Line 14"/>
                <p:cNvSpPr/>
                <p:nvPr/>
              </p:nvSpPr>
              <p:spPr>
                <a:xfrm>
                  <a:off x="4457700" y="4533900"/>
                  <a:ext cx="1552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575" h="9525">
                      <a:moveTo>
                        <a:pt x="0" y="0"/>
                      </a:moveTo>
                      <a:lnTo>
                        <a:pt x="1552575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Line 15"/>
                <p:cNvSpPr/>
                <p:nvPr/>
              </p:nvSpPr>
              <p:spPr>
                <a:xfrm>
                  <a:off x="4533900" y="4972050"/>
                  <a:ext cx="22002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0275" h="9525">
                      <a:moveTo>
                        <a:pt x="0" y="0"/>
                      </a:moveTo>
                      <a:lnTo>
                        <a:pt x="2200275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7" name="Line 17"/>
              <p:cNvSpPr/>
              <p:nvPr/>
            </p:nvSpPr>
            <p:spPr>
              <a:xfrm>
                <a:off x="6724650" y="3219450"/>
                <a:ext cx="99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9525">
                    <a:moveTo>
                      <a:pt x="0" y="0"/>
                    </a:moveTo>
                    <a:lnTo>
                      <a:pt x="990600" y="0"/>
                    </a:lnTo>
                  </a:path>
                </a:pathLst>
              </a:custGeom>
              <a:noFill/>
              <a:ln w="47625">
                <a:solidFill>
                  <a:srgbClr val="7B2635"/>
                </a:solidFill>
              </a:ln>
            </p:spPr>
            <p:txBody>
              <a:bodyPr/>
              <a:p/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5143500" y="2724150"/>
                <a:ext cx="752475" cy="2305050"/>
                <a:chOff x="5143500" y="2724150"/>
                <a:chExt cx="752475" cy="2305050"/>
              </a:xfrm>
            </p:grpSpPr>
            <p:sp>
              <p:nvSpPr>
                <p:cNvPr id="18" name="Ellipse 18"/>
                <p:cNvSpPr/>
                <p:nvPr/>
              </p:nvSpPr>
              <p:spPr>
                <a:xfrm>
                  <a:off x="5781675" y="2724150"/>
                  <a:ext cx="114300" cy="1143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9" name="Ellipse 19"/>
                <p:cNvSpPr/>
                <p:nvPr/>
              </p:nvSpPr>
              <p:spPr>
                <a:xfrm>
                  <a:off x="5610225" y="3600450"/>
                  <a:ext cx="114300" cy="1143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0" name="Ellipse 20"/>
                <p:cNvSpPr/>
                <p:nvPr/>
              </p:nvSpPr>
              <p:spPr>
                <a:xfrm>
                  <a:off x="5762625" y="4038600"/>
                  <a:ext cx="114300" cy="1143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1" name="Ellipse 21"/>
                <p:cNvSpPr/>
                <p:nvPr/>
              </p:nvSpPr>
              <p:spPr>
                <a:xfrm>
                  <a:off x="5143500" y="4476750"/>
                  <a:ext cx="114300" cy="1143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2" name="Ellipse 22"/>
                <p:cNvSpPr/>
                <p:nvPr/>
              </p:nvSpPr>
              <p:spPr>
                <a:xfrm>
                  <a:off x="5514975" y="4914900"/>
                  <a:ext cx="114300" cy="1143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sp>
            <p:nvSpPr>
              <p:cNvPr id="24" name="Ellipse 24"/>
              <p:cNvSpPr/>
              <p:nvPr/>
            </p:nvSpPr>
            <p:spPr>
              <a:xfrm>
                <a:off x="7143750" y="3152775"/>
                <a:ext cx="133350" cy="133350"/>
              </a:xfrm>
              <a:prstGeom prst="ellipse">
                <a:avLst/>
              </a:prstGeom>
              <a:solidFill>
                <a:srgbClr val="7B2635"/>
              </a:solidFill>
              <a:ln>
                <a:noFill/>
              </a:ln>
            </p:spPr>
            <p:txBody>
              <a:bodyPr/>
              <a:p/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63118" y="2654300"/>
              <a:ext cx="2015871" cy="2513457"/>
              <a:chOff x="563118" y="2654300"/>
              <a:chExt cx="2015871" cy="2513457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563118" y="2654300"/>
                <a:ext cx="26062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品质差—21类合计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3118" y="3092450"/>
                <a:ext cx="25712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b="1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年代早—公共设施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3118" y="3530600"/>
                <a:ext cx="25712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停车少—停车秩序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63118" y="3968750"/>
                <a:ext cx="25712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停车少—停车设施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63118" y="4406900"/>
                <a:ext cx="19493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绿化低—绿地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3118" y="4845050"/>
                <a:ext cx="28822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容积率高—规划密度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803142" y="2682875"/>
              <a:ext cx="7066872" cy="2854833"/>
              <a:chOff x="3803142" y="2682875"/>
              <a:chExt cx="7066872" cy="2854833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8946642" y="2682875"/>
                <a:ext cx="27527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1.063［1.005—1.124］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6642" y="3121025"/>
                <a:ext cx="27527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1.207［1.156—1.260］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6642" y="3559175"/>
                <a:ext cx="27527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1.045［0.985—1.109］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6642" y="3997325"/>
                <a:ext cx="27527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1.061［0.990—1.138］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946642" y="4435475"/>
                <a:ext cx="27527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0.996［0.918—1.081］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946642" y="4873625"/>
                <a:ext cx="27527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1.035［0.926—1.157］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803142" y="527367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0.85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51537" y="527367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1.00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28680" y="527367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1.30</a:t>
                </a:r>
              </a:p>
            </p:txBody>
          </p:sp>
        </p:grpSp>
      </p:grpSp>
      <p:grpSp>
        <p:nvGrpSpPr>
          <p:cNvPr id="45" name="takeaway"/>
          <p:cNvGrpSpPr/>
          <p:nvPr/>
        </p:nvGrpSpPr>
        <p:grpSpPr>
          <a:xfrm>
            <a:off x="563118" y="5854700"/>
            <a:ext cx="6385874" cy="322707"/>
            <a:chOff x="563118" y="5854700"/>
            <a:chExt cx="6385874" cy="322707"/>
          </a:xfrm>
        </p:grpSpPr>
        <p:sp>
          <p:nvSpPr>
            <p:cNvPr id="44" name="TextBox 44"/>
            <p:cNvSpPr txBox="1"/>
            <p:nvPr/>
          </p:nvSpPr>
          <p:spPr>
            <a:xfrm>
              <a:off x="563118" y="5854700"/>
              <a:ext cx="90002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年代：q＜0.001　｜　品质：q＝0.099　｜　其余：区间均包含1</a:t>
              </a:r>
            </a:p>
          </p:txBody>
        </p:sp>
      </p:grpSp>
      <p:sp>
        <p:nvSpPr>
          <p:cNvPr id="46" name="source"/>
          <p:cNvSpPr txBox="1"/>
          <p:nvPr/>
        </p:nvSpPr>
        <p:spPr>
          <a:xfrm>
            <a:off x="565404" y="6419850"/>
            <a:ext cx="89537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表4、10—11；每增加1个固定参照问题SD；3公里Conley，六项BH校正</a:t>
            </a:r>
          </a:p>
        </p:txBody>
      </p:sp>
      <p:sp>
        <p:nvSpPr>
          <p:cNvPr id="47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A5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175123" cy="851154"/>
            <a:chOff x="558546" y="377825"/>
            <a:chExt cx="5175123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089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分组与标准化预测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305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建成年代分组与公共设施诉求梯度</a:t>
              </a:r>
            </a:p>
          </p:txBody>
        </p:sp>
      </p:grpSp>
      <p:grpSp>
        <p:nvGrpSpPr>
          <p:cNvPr id="28" name="age-gradient"/>
          <p:cNvGrpSpPr/>
          <p:nvPr/>
        </p:nvGrpSpPr>
        <p:grpSpPr>
          <a:xfrm>
            <a:off x="563118" y="1701800"/>
            <a:ext cx="7138559" cy="3904107"/>
            <a:chOff x="563118" y="1701800"/>
            <a:chExt cx="7138559" cy="3904107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01800"/>
              <a:ext cx="28304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标准化条件期望 / 件</a:t>
              </a:r>
            </a:p>
          </p:txBody>
        </p:sp>
        <p:grpSp>
          <p:nvGrpSpPr>
            <p:cNvPr id="14" name="age-gradient-chartArea"/>
            <p:cNvGrpSpPr/>
            <p:nvPr/>
          </p:nvGrpSpPr>
          <p:grpSpPr>
            <a:xfrm>
              <a:off x="1323975" y="2522792"/>
              <a:ext cx="6210300" cy="2630233"/>
              <a:chOff x="1323975" y="2522792"/>
              <a:chExt cx="6210300" cy="2630233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1381125" y="51435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</a:ln>
            </p:spPr>
            <p:txBody>
              <a:bodyPr/>
              <a:p/>
            </p:txBody>
          </p:sp>
          <p:sp>
            <p:nvSpPr>
              <p:cNvPr id="7" name="Polyline 7"/>
              <p:cNvSpPr/>
              <p:nvPr/>
            </p:nvSpPr>
            <p:spPr>
              <a:xfrm>
                <a:off x="1381125" y="2579942"/>
                <a:ext cx="6096000" cy="1085850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1085850">
                    <a:moveTo>
                      <a:pt x="0" y="1085850"/>
                    </a:moveTo>
                    <a:lnTo>
                      <a:pt x="1524000" y="849058"/>
                    </a:lnTo>
                    <a:lnTo>
                      <a:pt x="3048000" y="489871"/>
                    </a:lnTo>
                    <a:lnTo>
                      <a:pt x="4572000" y="195929"/>
                    </a:lnTo>
                    <a:lnTo>
                      <a:pt x="6096000" y="0"/>
                    </a:lnTo>
                  </a:path>
                </a:pathLst>
              </a:custGeom>
              <a:noFill/>
              <a:ln w="38100">
                <a:solidFill>
                  <a:srgbClr val="7B2635"/>
                </a:solidFill>
              </a:ln>
            </p:spPr>
            <p:txBody>
              <a:bodyPr/>
              <a:p/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1323975" y="2522792"/>
                <a:ext cx="6210300" cy="1200150"/>
                <a:chOff x="1323975" y="2522792"/>
                <a:chExt cx="6210300" cy="1200150"/>
              </a:xfrm>
            </p:grpSpPr>
            <p:sp>
              <p:nvSpPr>
                <p:cNvPr id="8" name="Ellipse 8"/>
                <p:cNvSpPr/>
                <p:nvPr/>
              </p:nvSpPr>
              <p:spPr>
                <a:xfrm>
                  <a:off x="1323975" y="3608642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9" name="Ellipse 9"/>
                <p:cNvSpPr/>
                <p:nvPr/>
              </p:nvSpPr>
              <p:spPr>
                <a:xfrm>
                  <a:off x="2847975" y="3371850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0" name="Ellipse 10"/>
                <p:cNvSpPr/>
                <p:nvPr/>
              </p:nvSpPr>
              <p:spPr>
                <a:xfrm>
                  <a:off x="4371975" y="3012662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1" name="Ellipse 11"/>
                <p:cNvSpPr/>
                <p:nvPr/>
              </p:nvSpPr>
              <p:spPr>
                <a:xfrm>
                  <a:off x="5895975" y="2718721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2" name="Ellipse 12"/>
                <p:cNvSpPr/>
                <p:nvPr/>
              </p:nvSpPr>
              <p:spPr>
                <a:xfrm>
                  <a:off x="7419975" y="2522792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5" name="Group 25"/>
            <p:cNvGrpSpPr/>
            <p:nvPr/>
          </p:nvGrpSpPr>
          <p:grpSpPr>
            <a:xfrm>
              <a:off x="1156573" y="2187575"/>
              <a:ext cx="6545104" cy="3418332"/>
              <a:chOff x="1156573" y="2187575"/>
              <a:chExt cx="6545104" cy="341833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36753" y="3273425"/>
                <a:ext cx="6887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3.62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560753" y="3035300"/>
                <a:ext cx="6887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4.20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84753" y="2673350"/>
                <a:ext cx="6887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5.08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608753" y="2378075"/>
                <a:ext cx="6887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5.80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132753" y="2187575"/>
                <a:ext cx="6887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6.28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0232" y="5283200"/>
                <a:ext cx="5217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G1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44232" y="5283200"/>
                <a:ext cx="5217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G2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68232" y="5283200"/>
                <a:ext cx="5217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G3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92232" y="5283200"/>
                <a:ext cx="5217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G4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16232" y="5283200"/>
                <a:ext cx="5217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G5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040892" y="5035550"/>
              <a:ext cx="220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0892" y="2187575"/>
              <a:ext cx="220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36" name="group-contrast"/>
          <p:cNvGrpSpPr/>
          <p:nvPr/>
        </p:nvGrpSpPr>
        <p:grpSpPr>
          <a:xfrm>
            <a:off x="8554212" y="1749425"/>
            <a:ext cx="2471533" cy="3540633"/>
            <a:chOff x="8554212" y="1749425"/>
            <a:chExt cx="2471533" cy="3540633"/>
          </a:xfrm>
        </p:grpSpPr>
        <p:sp>
          <p:nvSpPr>
            <p:cNvPr id="29" name="TextBox 29"/>
            <p:cNvSpPr txBox="1"/>
            <p:nvPr/>
          </p:nvSpPr>
          <p:spPr>
            <a:xfrm>
              <a:off x="8564118" y="1749425"/>
              <a:ext cx="1233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en-US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G5 / G1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54212" y="226060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1.733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4118" y="2921000"/>
              <a:ext cx="3387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95%区间：1.508—1.992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4118" y="3397250"/>
              <a:ext cx="2571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组间、总体、趋势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4118" y="3778250"/>
              <a:ext cx="165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q均＜0.001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4118" y="4540250"/>
              <a:ext cx="2571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其他维度证据较弱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5642" y="5026025"/>
              <a:ext cx="3386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绿化G4为空，未补写分组结果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63118" y="5854700"/>
            <a:ext cx="6529770" cy="322707"/>
            <a:chOff x="563118" y="5854700"/>
            <a:chExt cx="6529770" cy="322707"/>
          </a:xfrm>
        </p:grpSpPr>
        <p:sp>
          <p:nvSpPr>
            <p:cNvPr id="37" name="TextBox 37"/>
            <p:cNvSpPr txBox="1"/>
            <p:nvPr/>
          </p:nvSpPr>
          <p:spPr>
            <a:xfrm>
              <a:off x="563118" y="5854700"/>
              <a:ext cx="92016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G1最有利、G5最不利；统一设为1,000户，保留其他控制后平均。</a:t>
              </a:r>
            </a:p>
          </p:txBody>
        </p:sp>
      </p:grpSp>
      <p:sp>
        <p:nvSpPr>
          <p:cNvPr id="39" name="source"/>
          <p:cNvSpPr txBox="1"/>
          <p:nvPr/>
        </p:nvSpPr>
        <p:spPr>
          <a:xfrm>
            <a:off x="565404" y="6419850"/>
            <a:ext cx="62971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表12—13；模型条件期望不等于实际每千户率</a:t>
            </a:r>
          </a:p>
        </p:txBody>
      </p:sp>
      <p:sp>
        <p:nvSpPr>
          <p:cNvPr id="40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A6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2391" cy="851154"/>
            <a:chOff x="558546" y="377825"/>
            <a:chExt cx="4832391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326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样本内识别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53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调整诉求排序的前20%召回表现</a:t>
              </a:r>
            </a:p>
          </p:txBody>
        </p:sp>
      </p:grpSp>
      <p:grpSp>
        <p:nvGrpSpPr>
          <p:cNvPr id="6" name="recall-definition"/>
          <p:cNvGrpSpPr/>
          <p:nvPr/>
        </p:nvGrpSpPr>
        <p:grpSpPr>
          <a:xfrm>
            <a:off x="563118" y="1606550"/>
            <a:ext cx="6903288" cy="322707"/>
            <a:chOff x="563118" y="1606550"/>
            <a:chExt cx="6903288" cy="322707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606550"/>
              <a:ext cx="97246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按调整后相对诉求强度选前20%　→　覆盖环境最不利20%集合的比例</a:t>
              </a:r>
            </a:p>
          </p:txBody>
        </p:sp>
      </p:grpSp>
      <p:grpSp>
        <p:nvGrpSpPr>
          <p:cNvPr id="34" name="recall-dots"/>
          <p:cNvGrpSpPr/>
          <p:nvPr/>
        </p:nvGrpSpPr>
        <p:grpSpPr>
          <a:xfrm>
            <a:off x="563118" y="2381250"/>
            <a:ext cx="10492740" cy="3185033"/>
            <a:chOff x="563118" y="2381250"/>
            <a:chExt cx="10492740" cy="3185033"/>
          </a:xfrm>
        </p:grpSpPr>
        <p:grpSp>
          <p:nvGrpSpPr>
            <p:cNvPr id="16" name="recall-dots-chartArea"/>
            <p:cNvGrpSpPr/>
            <p:nvPr/>
          </p:nvGrpSpPr>
          <p:grpSpPr>
            <a:xfrm>
              <a:off x="7985760" y="2381250"/>
              <a:ext cx="1379220" cy="2714625"/>
              <a:chOff x="7985760" y="2381250"/>
              <a:chExt cx="1379220" cy="271462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8382000" y="2381250"/>
                <a:ext cx="9525" cy="271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14625">
                    <a:moveTo>
                      <a:pt x="0" y="0"/>
                    </a:moveTo>
                    <a:lnTo>
                      <a:pt x="0" y="2714625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8305800" y="2543175"/>
                <a:ext cx="1059180" cy="1581150"/>
                <a:chOff x="8305800" y="2543175"/>
                <a:chExt cx="1059180" cy="1581150"/>
              </a:xfrm>
            </p:grpSpPr>
            <p:sp>
              <p:nvSpPr>
                <p:cNvPr id="8" name="Ellipse 8"/>
                <p:cNvSpPr/>
                <p:nvPr/>
              </p:nvSpPr>
              <p:spPr>
                <a:xfrm>
                  <a:off x="8305800" y="2543175"/>
                  <a:ext cx="152400" cy="1524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9" name="Ellipse 9"/>
                <p:cNvSpPr/>
                <p:nvPr/>
              </p:nvSpPr>
              <p:spPr>
                <a:xfrm>
                  <a:off x="9025890" y="3019425"/>
                  <a:ext cx="152400" cy="1524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0" name="Ellipse 10"/>
                <p:cNvSpPr/>
                <p:nvPr/>
              </p:nvSpPr>
              <p:spPr>
                <a:xfrm>
                  <a:off x="9025890" y="3495675"/>
                  <a:ext cx="152400" cy="1524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1" name="Ellipse 11"/>
                <p:cNvSpPr/>
                <p:nvPr/>
              </p:nvSpPr>
              <p:spPr>
                <a:xfrm>
                  <a:off x="9212580" y="3971925"/>
                  <a:ext cx="152400" cy="1524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7985760" y="4448175"/>
                <a:ext cx="259080" cy="628650"/>
                <a:chOff x="7985760" y="4448175"/>
                <a:chExt cx="259080" cy="62865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7985760" y="4448175"/>
                  <a:ext cx="152400" cy="1524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4" name="Ellipse 14"/>
                <p:cNvSpPr/>
                <p:nvPr/>
              </p:nvSpPr>
              <p:spPr>
                <a:xfrm>
                  <a:off x="8092440" y="4924425"/>
                  <a:ext cx="152400" cy="152400"/>
                </a:xfrm>
                <a:prstGeom prst="ellipse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9" name="Group 29"/>
            <p:cNvGrpSpPr/>
            <p:nvPr/>
          </p:nvGrpSpPr>
          <p:grpSpPr>
            <a:xfrm>
              <a:off x="563118" y="2492375"/>
              <a:ext cx="9562016" cy="2703957"/>
              <a:chOff x="563118" y="2492375"/>
              <a:chExt cx="9562016" cy="2703957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63118" y="249237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品质—总量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63118" y="2968625"/>
                <a:ext cx="22602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年代—公共设施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3118" y="344487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停车—秩序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3118" y="392112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停车—设施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63118" y="439737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绿化—绿地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63118" y="4873625"/>
                <a:ext cx="19493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容积率—密度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64118" y="2492375"/>
                <a:ext cx="9652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20.0%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288018" y="2968625"/>
                <a:ext cx="9652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22.7%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288018" y="3444875"/>
                <a:ext cx="9652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22.7%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78518" y="3921125"/>
                <a:ext cx="9652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23.4%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92493" y="4397375"/>
                <a:ext cx="9652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18.8%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097268" y="4873625"/>
                <a:ext cx="9652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19.2%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041142" y="5302250"/>
              <a:ext cx="8014716" cy="264033"/>
              <a:chOff x="3041142" y="5302250"/>
              <a:chExt cx="8014716" cy="26403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3041142" y="5302250"/>
                <a:ext cx="4469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43559" y="5302250"/>
                <a:ext cx="16768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20% 随机基准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67385" y="5302250"/>
                <a:ext cx="5884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</p:grpSp>
      </p:grpSp>
      <p:grpSp>
        <p:nvGrpSpPr>
          <p:cNvPr id="36" name="takeaway"/>
          <p:cNvGrpSpPr/>
          <p:nvPr/>
        </p:nvGrpSpPr>
        <p:grpSpPr>
          <a:xfrm>
            <a:off x="563118" y="5854700"/>
            <a:ext cx="6989249" cy="322707"/>
            <a:chOff x="563118" y="5854700"/>
            <a:chExt cx="6989249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563118" y="5854700"/>
              <a:ext cx="98449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年代召回仅高于随机基准约2.7个百分点；无样本外验证或显著性区间。</a:t>
              </a:r>
            </a:p>
          </p:txBody>
        </p:sp>
      </p:grpSp>
      <p:sp>
        <p:nvSpPr>
          <p:cNvPr id="37" name="source"/>
          <p:cNvSpPr txBox="1"/>
          <p:nvPr/>
        </p:nvSpPr>
        <p:spPr>
          <a:xfrm>
            <a:off x="565404" y="6419850"/>
            <a:ext cx="64978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表14；识别对象为环境代理指标，不是实测故障</a:t>
            </a:r>
          </a:p>
        </p:txBody>
      </p:sp>
      <p:sp>
        <p:nvSpPr>
          <p:cNvPr id="38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A7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145280" cy="851154"/>
            <a:chOff x="558546" y="377825"/>
            <a:chExt cx="4145280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089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敏感性与模型诊断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8633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样本敏感性与残差空间相关</a:t>
              </a:r>
            </a:p>
          </p:txBody>
        </p:sp>
      </p:grpSp>
      <p:grpSp>
        <p:nvGrpSpPr>
          <p:cNvPr id="17" name="sensitivity"/>
          <p:cNvGrpSpPr/>
          <p:nvPr/>
        </p:nvGrpSpPr>
        <p:grpSpPr>
          <a:xfrm>
            <a:off x="561594" y="1758950"/>
            <a:ext cx="5587091" cy="3370707"/>
            <a:chOff x="561594" y="1758950"/>
            <a:chExt cx="5587091" cy="3370707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58950"/>
              <a:ext cx="4431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三种样本口径下的年代IRR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435225"/>
              <a:ext cx="10163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主样本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133344" y="2397125"/>
              <a:ext cx="10074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1.207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30368" y="2435225"/>
              <a:ext cx="1345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q＜0.001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3006725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全部名称核验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3344" y="2968625"/>
              <a:ext cx="10074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1.182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30368" y="3006725"/>
              <a:ext cx="1345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q＜0.001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118" y="3578225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排除改派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3344" y="3540125"/>
              <a:ext cx="10074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1.226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30368" y="3578225"/>
              <a:ext cx="1345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q＜0.001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4340225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品质证据随样本变化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118" y="4806950"/>
              <a:ext cx="5059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停车、绿化、容积率仍缺少稳定支持</a:t>
              </a:r>
            </a:p>
          </p:txBody>
        </p:sp>
      </p:grpSp>
      <p:grpSp>
        <p:nvGrpSpPr>
          <p:cNvPr id="25" name="moran"/>
          <p:cNvGrpSpPr/>
          <p:nvPr/>
        </p:nvGrpSpPr>
        <p:grpSpPr>
          <a:xfrm>
            <a:off x="8086344" y="1758950"/>
            <a:ext cx="2425414" cy="3397758"/>
            <a:chOff x="8086344" y="1758950"/>
            <a:chExt cx="2425414" cy="3397758"/>
          </a:xfrm>
        </p:grpSpPr>
        <p:sp>
          <p:nvSpPr>
            <p:cNvPr id="18" name="TextBox 18"/>
            <p:cNvSpPr txBox="1"/>
            <p:nvPr/>
          </p:nvSpPr>
          <p:spPr>
            <a:xfrm>
              <a:off x="8086344" y="1758950"/>
              <a:ext cx="30935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3公里残差Moran 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87868" y="2425700"/>
              <a:ext cx="1794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品质　0.032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7868" y="2863850"/>
              <a:ext cx="1794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　0.047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7868" y="3302000"/>
              <a:ext cx="2832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停车　0.022 / 0.010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87868" y="3740150"/>
              <a:ext cx="1794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绿化　0.014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7868" y="4178300"/>
              <a:ext cx="1976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密度　−0.002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9392" y="4892675"/>
              <a:ext cx="3451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除密度外，探索性BH q＜0.05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63118" y="5854700"/>
            <a:ext cx="6803758" cy="322707"/>
            <a:chOff x="563118" y="5854700"/>
            <a:chExt cx="6803758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563118" y="5854700"/>
              <a:ext cx="95852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Conley 1—5公里主要判断一致；空间稳健推断不等于消除空间遗漏。</a:t>
              </a:r>
            </a:p>
          </p:txBody>
        </p:sp>
      </p:grpSp>
      <p:sp>
        <p:nvSpPr>
          <p:cNvPr id="28" name="source"/>
          <p:cNvSpPr txBox="1"/>
          <p:nvPr/>
        </p:nvSpPr>
        <p:spPr>
          <a:xfrm>
            <a:off x="565404" y="6419850"/>
            <a:ext cx="7096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表15—16；Moran为199次普通残差置换的探索性诊断</a:t>
            </a:r>
          </a:p>
        </p:txBody>
      </p:sp>
      <p:sp>
        <p:nvSpPr>
          <p:cNvPr id="29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518404" cy="851154"/>
            <a:chOff x="558546" y="377825"/>
            <a:chExt cx="5518404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581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计数模型比较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7857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总体品质：模型拟合、效应与有效性</a:t>
              </a:r>
            </a:p>
          </p:txBody>
        </p:sp>
      </p:grpSp>
      <p:grpSp>
        <p:nvGrpSpPr>
          <p:cNvPr id="27" name="model-comparison"/>
          <p:cNvGrpSpPr/>
          <p:nvPr/>
        </p:nvGrpSpPr>
        <p:grpSpPr>
          <a:xfrm>
            <a:off x="563118" y="1749425"/>
            <a:ext cx="11057382" cy="2456307"/>
            <a:chOff x="563118" y="1749425"/>
            <a:chExt cx="11057382" cy="2456307"/>
          </a:xfrm>
        </p:grpSpPr>
        <p:grpSp>
          <p:nvGrpSpPr>
            <p:cNvPr id="26" name="Group 26"/>
            <p:cNvGrpSpPr/>
            <p:nvPr/>
          </p:nvGrpSpPr>
          <p:grpSpPr>
            <a:xfrm>
              <a:off x="563118" y="1749425"/>
              <a:ext cx="11057382" cy="2456307"/>
              <a:chOff x="563118" y="1749425"/>
              <a:chExt cx="11057382" cy="2456307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63118" y="174942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模型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3325368" y="1749425"/>
                <a:ext cx="127128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品质IRR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135118" y="1749425"/>
                <a:ext cx="15865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区间 / 诊断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373868" y="174942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状态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571500" y="214312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118" y="2339975"/>
                <a:ext cx="9782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PPML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325368" y="23399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1.063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135118" y="2339975"/>
                <a:ext cx="19509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1.005—1.124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73868" y="233997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通过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3118" y="2854325"/>
                <a:ext cx="19665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NB2最大似然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25368" y="285432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1.035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135118" y="2854325"/>
                <a:ext cx="19509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0.989—1.082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73868" y="285432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通过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63118" y="3368675"/>
                <a:ext cx="16555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贝叶斯NB2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25368" y="33686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1.035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35118" y="3368675"/>
                <a:ext cx="19509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1.001—1.069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373868" y="336867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通过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63118" y="3883025"/>
                <a:ext cx="17274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NB2＋CAR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25368" y="3883025"/>
                <a:ext cx="19493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不作正式解释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135118" y="3883025"/>
                <a:ext cx="4265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en-US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Rhat 1.0187 / bulk ESS 252.3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373868" y="3883025"/>
                <a:ext cx="10163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未通过</a:t>
                </a:r>
              </a:p>
            </p:txBody>
          </p:sp>
        </p:grpSp>
      </p:grpSp>
      <p:grpSp>
        <p:nvGrpSpPr>
          <p:cNvPr id="30" name="fit"/>
          <p:cNvGrpSpPr/>
          <p:nvPr/>
        </p:nvGrpSpPr>
        <p:grpSpPr>
          <a:xfrm>
            <a:off x="563118" y="4730750"/>
            <a:ext cx="5566216" cy="751332"/>
            <a:chOff x="563118" y="4730750"/>
            <a:chExt cx="5566216" cy="751332"/>
          </a:xfrm>
        </p:grpSpPr>
        <p:sp>
          <p:nvSpPr>
            <p:cNvPr id="28" name="TextBox 28"/>
            <p:cNvSpPr txBox="1"/>
            <p:nvPr/>
          </p:nvSpPr>
          <p:spPr>
            <a:xfrm>
              <a:off x="563118" y="4730750"/>
              <a:ext cx="59107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AIC：PPML 117,775.4 → NB2 40,824.7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3118" y="5159375"/>
              <a:ext cx="7852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3公里残差Moran：0.032 → 0.025；局部空间结构仍存在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563118" y="5854700"/>
            <a:ext cx="7410446" cy="322707"/>
            <a:chOff x="563118" y="5854700"/>
            <a:chExt cx="7410446" cy="322707"/>
          </a:xfrm>
        </p:grpSpPr>
        <p:sp>
          <p:nvSpPr>
            <p:cNvPr id="31" name="TextBox 31"/>
            <p:cNvSpPr txBox="1"/>
            <p:nvPr/>
          </p:nvSpPr>
          <p:spPr>
            <a:xfrm>
              <a:off x="563118" y="5854700"/>
              <a:ext cx="10434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NB2改善分布拟合；品质关联较弱且依赖设定；CAR未形成有效正式结果。</a:t>
              </a:r>
            </a:p>
          </p:txBody>
        </p:sp>
      </p:grpSp>
      <p:sp>
        <p:nvSpPr>
          <p:cNvPr id="33" name="source"/>
          <p:cNvSpPr txBox="1"/>
          <p:nvPr/>
        </p:nvSpPr>
        <p:spPr>
          <a:xfrm>
            <a:off x="565404" y="6419850"/>
            <a:ext cx="83458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表17—19；同样本n＝5,515；贝叶斯为可信区间，其他为置信区间</a:t>
            </a:r>
          </a:p>
        </p:txBody>
      </p:sp>
      <p:sp>
        <p:nvSpPr>
          <p:cNvPr id="34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A9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175123" cy="851154"/>
            <a:chOff x="558546" y="377825"/>
            <a:chExt cx="5175123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835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极端集合稳定性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305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残差极端小区名单对模型的敏感性</a:t>
              </a:r>
            </a:p>
          </p:txBody>
        </p:sp>
      </p:grpSp>
      <p:grpSp>
        <p:nvGrpSpPr>
          <p:cNvPr id="28" name="overlap-matrix"/>
          <p:cNvGrpSpPr/>
          <p:nvPr/>
        </p:nvGrpSpPr>
        <p:grpSpPr>
          <a:xfrm>
            <a:off x="561594" y="1825625"/>
            <a:ext cx="11058906" cy="2991231"/>
            <a:chOff x="561594" y="1825625"/>
            <a:chExt cx="11058906" cy="2991231"/>
          </a:xfrm>
        </p:grpSpPr>
        <p:grpSp>
          <p:nvGrpSpPr>
            <p:cNvPr id="8" name="Group 8"/>
            <p:cNvGrpSpPr/>
            <p:nvPr/>
          </p:nvGrpSpPr>
          <p:grpSpPr>
            <a:xfrm>
              <a:off x="563118" y="1825625"/>
              <a:ext cx="8918588" cy="322707"/>
              <a:chOff x="563118" y="1825625"/>
              <a:chExt cx="8918588" cy="322707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63118" y="1825625"/>
                <a:ext cx="22602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残差方向与阈值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182618" y="1825625"/>
                <a:ext cx="33450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PPML vs NB2最大似然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564118" y="1825625"/>
                <a:ext cx="13446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两种NB2</a:t>
                </a:r>
              </a:p>
            </p:txBody>
          </p:sp>
        </p:grpSp>
        <p:sp>
          <p:nvSpPr>
            <p:cNvPr id="9" name="Line 9"/>
            <p:cNvSpPr/>
            <p:nvPr/>
          </p:nvSpPr>
          <p:spPr>
            <a:xfrm>
              <a:off x="571500" y="2238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4191000" y="2419350"/>
              <a:ext cx="7429500" cy="1790700"/>
              <a:chOff x="4191000" y="2419350"/>
              <a:chExt cx="7429500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191000" y="2419350"/>
                <a:ext cx="4286250" cy="533400"/>
              </a:xfrm>
              <a:prstGeom prst="rect">
                <a:avLst/>
              </a:prstGeom>
              <a:solidFill>
                <a:srgbClr val="F4E9EC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8572500" y="2419350"/>
                <a:ext cx="3048000" cy="533400"/>
              </a:xfrm>
              <a:prstGeom prst="rect">
                <a:avLst/>
              </a:prstGeom>
              <a:solidFill>
                <a:srgbClr val="F4E9EC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4191000" y="3676650"/>
                <a:ext cx="4286250" cy="533400"/>
              </a:xfrm>
              <a:prstGeom prst="rect">
                <a:avLst/>
              </a:prstGeom>
              <a:solidFill>
                <a:srgbClr val="F4E9EC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8572500" y="3676650"/>
                <a:ext cx="3048000" cy="533400"/>
              </a:xfrm>
              <a:prstGeom prst="rect">
                <a:avLst/>
              </a:prstGeom>
              <a:solidFill>
                <a:srgbClr val="F4E9EC"/>
              </a:solidFill>
              <a:ln>
                <a:noFill/>
              </a:ln>
            </p:spPr>
            <p:txBody>
              <a:bodyPr/>
              <a:p/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61594" y="2549525"/>
              <a:ext cx="9863690" cy="2267331"/>
              <a:chOff x="561594" y="2549525"/>
              <a:chExt cx="9863690" cy="226733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61594" y="2549525"/>
                <a:ext cx="13539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偏低5%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419344" y="254952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25.1%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515094" y="254952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99.6%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61594" y="3178175"/>
                <a:ext cx="13539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偏高5%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19344" y="317817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65.8%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515094" y="317817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99.6%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61594" y="3806825"/>
                <a:ext cx="13539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偏低1%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19344" y="380682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10.9%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15094" y="380682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98.2%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1594" y="4435475"/>
                <a:ext cx="13539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偏高1%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419344" y="4435475"/>
                <a:ext cx="11298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54.5%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15094" y="4435475"/>
                <a:ext cx="13342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100.0%</a:t>
                </a:r>
              </a:p>
            </p:txBody>
          </p:sp>
        </p:grpSp>
      </p:grpSp>
      <p:grpSp>
        <p:nvGrpSpPr>
          <p:cNvPr id="30" name="definition"/>
          <p:cNvGrpSpPr/>
          <p:nvPr/>
        </p:nvGrpSpPr>
        <p:grpSpPr>
          <a:xfrm>
            <a:off x="564642" y="5349875"/>
            <a:ext cx="5012429" cy="264033"/>
            <a:chOff x="564642" y="5349875"/>
            <a:chExt cx="5012429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64642" y="5349875"/>
              <a:ext cx="70774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重叠率＝交集 / 单个名单数；每端5%为275个，每端1%为55个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563118" y="5854700"/>
            <a:ext cx="6606265" cy="322707"/>
            <a:chOff x="563118" y="5854700"/>
            <a:chExt cx="6606265" cy="322707"/>
          </a:xfrm>
        </p:grpSpPr>
        <p:sp>
          <p:nvSpPr>
            <p:cNvPr id="31" name="TextBox 31"/>
            <p:cNvSpPr txBox="1"/>
            <p:nvPr/>
          </p:nvSpPr>
          <p:spPr>
            <a:xfrm>
              <a:off x="563118" y="5854700"/>
              <a:ext cx="93087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低于模型预期的名单变化更大，不能直接标记为“低表达意愿小区”。</a:t>
              </a:r>
            </a:p>
          </p:txBody>
        </p:sp>
      </p:grpSp>
      <p:sp>
        <p:nvSpPr>
          <p:cNvPr id="33" name="source"/>
          <p:cNvSpPr txBox="1"/>
          <p:nvPr/>
        </p:nvSpPr>
        <p:spPr>
          <a:xfrm>
            <a:off x="565404" y="6419850"/>
            <a:ext cx="67240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表20；极端集合相对模型预期，不是现实问题召回</a:t>
            </a:r>
          </a:p>
        </p:txBody>
      </p:sp>
      <p:sp>
        <p:nvSpPr>
          <p:cNvPr id="34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A10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3801999" cy="851154"/>
            <a:chOff x="558546" y="377825"/>
            <a:chExt cx="3801999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07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共同残差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38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环境诉求之间的共同变化</a:t>
              </a:r>
            </a:p>
          </p:txBody>
        </p:sp>
      </p:grpSp>
      <p:grpSp>
        <p:nvGrpSpPr>
          <p:cNvPr id="46" name="residual-matrix"/>
          <p:cNvGrpSpPr/>
          <p:nvPr/>
        </p:nvGrpSpPr>
        <p:grpSpPr>
          <a:xfrm>
            <a:off x="563118" y="1739900"/>
            <a:ext cx="6914007" cy="3665982"/>
            <a:chOff x="563118" y="1739900"/>
            <a:chExt cx="6914007" cy="3665982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39900"/>
              <a:ext cx="41833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R2随机分位残差相关 / 下三角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2231517" y="2216150"/>
              <a:ext cx="4901565" cy="264033"/>
              <a:chOff x="2231517" y="2216150"/>
              <a:chExt cx="4901565" cy="26403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2231517" y="2216150"/>
                <a:ext cx="588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秩序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136392" y="2216150"/>
                <a:ext cx="588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设施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041267" y="2216150"/>
                <a:ext cx="588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卫生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946142" y="2216150"/>
                <a:ext cx="588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绿地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851017" y="2216150"/>
                <a:ext cx="588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公共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55892" y="2216150"/>
                <a:ext cx="588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密度</a:t>
                </a:r>
              </a:p>
            </p:txBody>
          </p:sp>
        </p:grpSp>
        <p:grpSp>
          <p:nvGrpSpPr>
            <p:cNvPr id="45" name="correlation-rows"/>
            <p:cNvGrpSpPr/>
            <p:nvPr/>
          </p:nvGrpSpPr>
          <p:grpSpPr>
            <a:xfrm>
              <a:off x="563118" y="2524125"/>
              <a:ext cx="6914007" cy="2881757"/>
              <a:chOff x="563118" y="2524125"/>
              <a:chExt cx="6914007" cy="2881757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2095500" y="2524125"/>
                <a:ext cx="5381625" cy="2400300"/>
                <a:chOff x="2095500" y="2524125"/>
                <a:chExt cx="5381625" cy="2400300"/>
              </a:xfrm>
            </p:grpSpPr>
            <p:sp>
              <p:nvSpPr>
                <p:cNvPr id="13" name="Rectangle 13"/>
                <p:cNvSpPr/>
                <p:nvPr/>
              </p:nvSpPr>
              <p:spPr>
                <a:xfrm>
                  <a:off x="2095500" y="2524125"/>
                  <a:ext cx="5381625" cy="419100"/>
                </a:xfrm>
                <a:prstGeom prst="rect">
                  <a:avLst/>
                </a:prstGeom>
                <a:solidFill>
                  <a:srgbClr val="F4E9EC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4" name="Rectangle 14"/>
                <p:cNvSpPr/>
                <p:nvPr/>
              </p:nvSpPr>
              <p:spPr>
                <a:xfrm>
                  <a:off x="2095500" y="3514725"/>
                  <a:ext cx="5381625" cy="419100"/>
                </a:xfrm>
                <a:prstGeom prst="rect">
                  <a:avLst/>
                </a:prstGeom>
                <a:solidFill>
                  <a:srgbClr val="F4E9EC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5" name="Rectangle 15"/>
                <p:cNvSpPr/>
                <p:nvPr/>
              </p:nvSpPr>
              <p:spPr>
                <a:xfrm>
                  <a:off x="2095500" y="4505325"/>
                  <a:ext cx="5381625" cy="419100"/>
                </a:xfrm>
                <a:prstGeom prst="rect">
                  <a:avLst/>
                </a:prstGeom>
                <a:solidFill>
                  <a:srgbClr val="F4E9EC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563118" y="2606675"/>
                <a:ext cx="6640354" cy="2799207"/>
                <a:chOff x="563118" y="2606675"/>
                <a:chExt cx="6640354" cy="2799207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563118" y="2606675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停车秩序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63118" y="3101975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停车设施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63118" y="3597275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卫生垃圾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63118" y="4092575"/>
                  <a:ext cx="705414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绿地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63118" y="4587875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公共设施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63118" y="5083175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规划密度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229993" y="26066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1.00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229993" y="31019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.456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134868" y="31019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1.00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229993" y="35972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.458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134868" y="35972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.386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039743" y="35972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1.00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229993" y="40925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.303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134868" y="40925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.287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039743" y="40925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.340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944618" y="40925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1.00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229993" y="45878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.426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134868" y="45878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.386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4039743" y="45878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.496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944618" y="45878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.354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849493" y="45878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1.00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2229993" y="50831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.076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134868" y="50831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.078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039743" y="50831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.085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944618" y="50831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.072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849493" y="50831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.101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754368" y="5083175"/>
                  <a:ext cx="6887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1.00</a:t>
                  </a:r>
                </a:p>
              </p:txBody>
            </p:sp>
          </p:grpSp>
        </p:grpSp>
      </p:grpSp>
      <p:grpSp>
        <p:nvGrpSpPr>
          <p:cNvPr id="54" name="shared-residual-summary"/>
          <p:cNvGrpSpPr/>
          <p:nvPr/>
        </p:nvGrpSpPr>
        <p:grpSpPr>
          <a:xfrm>
            <a:off x="8554212" y="1749425"/>
            <a:ext cx="2363707" cy="3550158"/>
            <a:chOff x="8554212" y="1749425"/>
            <a:chExt cx="2363707" cy="3550158"/>
          </a:xfrm>
        </p:grpSpPr>
        <p:sp>
          <p:nvSpPr>
            <p:cNvPr id="47" name="TextBox 47"/>
            <p:cNvSpPr txBox="1"/>
            <p:nvPr/>
          </p:nvSpPr>
          <p:spPr>
            <a:xfrm>
              <a:off x="8564118" y="1749425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公共设施—绿地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54212" y="2193925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0.354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64118" y="2825750"/>
              <a:ext cx="31931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完整控制后仍正向相关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62594" y="3502025"/>
              <a:ext cx="16204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442 / 499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4118" y="3930650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主样本有效模拟次数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4118" y="4587875"/>
              <a:ext cx="33553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名称核验R2：285 / 499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65642" y="5035550"/>
              <a:ext cx="3019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未达80%门槛，不报告p值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63118" y="5854700"/>
            <a:ext cx="7124700" cy="322707"/>
            <a:chOff x="563118" y="5854700"/>
            <a:chExt cx="7124700" cy="322707"/>
          </a:xfrm>
        </p:grpSpPr>
        <p:sp>
          <p:nvSpPr>
            <p:cNvPr id="55" name="TextBox 55"/>
            <p:cNvSpPr txBox="1"/>
            <p:nvPr/>
          </p:nvSpPr>
          <p:spPr>
            <a:xfrm>
              <a:off x="563118" y="5854700"/>
              <a:ext cx="10034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前五类相关较强；规划密度较弱。共同变化尚不能归结为居民表达意愿。</a:t>
              </a:r>
            </a:p>
          </p:txBody>
        </p:sp>
      </p:grpSp>
      <p:sp>
        <p:nvSpPr>
          <p:cNvPr id="57" name="source"/>
          <p:cNvSpPr txBox="1"/>
          <p:nvPr/>
        </p:nvSpPr>
        <p:spPr>
          <a:xfrm>
            <a:off x="565404" y="6419850"/>
            <a:ext cx="73208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表21—22；主样本n＝6,244，独立NB模拟为探索性参照</a:t>
            </a:r>
          </a:p>
        </p:txBody>
      </p:sp>
      <p:sp>
        <p:nvSpPr>
          <p:cNvPr id="58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A11 /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488561" cy="851154"/>
            <a:chOff x="558546" y="377825"/>
            <a:chExt cx="4488561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326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内容特异性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343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对应关联是否强于非环境诉求</a:t>
              </a:r>
            </a:p>
          </p:txBody>
        </p:sp>
      </p:grpSp>
      <p:grpSp>
        <p:nvGrpSpPr>
          <p:cNvPr id="33" name="control-ratios"/>
          <p:cNvGrpSpPr/>
          <p:nvPr/>
        </p:nvGrpSpPr>
        <p:grpSpPr>
          <a:xfrm>
            <a:off x="563118" y="1749425"/>
            <a:ext cx="7063740" cy="3816858"/>
            <a:chOff x="563118" y="1749425"/>
            <a:chExt cx="7063740" cy="381685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49425"/>
              <a:ext cx="5532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目标IRR / 非环境合计IRR［95%区间］</a:t>
              </a:r>
            </a:p>
          </p:txBody>
        </p:sp>
        <p:grpSp>
          <p:nvGrpSpPr>
            <p:cNvPr id="21" name="control-ratios-chartArea"/>
            <p:cNvGrpSpPr/>
            <p:nvPr/>
          </p:nvGrpSpPr>
          <p:grpSpPr>
            <a:xfrm>
              <a:off x="3219450" y="2228850"/>
              <a:ext cx="4011930" cy="2990850"/>
              <a:chOff x="3219450" y="2228850"/>
              <a:chExt cx="4011930" cy="299085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5334000" y="2228850"/>
                <a:ext cx="9525" cy="2990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90850">
                    <a:moveTo>
                      <a:pt x="0" y="0"/>
                    </a:moveTo>
                    <a:lnTo>
                      <a:pt x="0" y="299085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3219450" y="2524125"/>
                <a:ext cx="4011930" cy="2486025"/>
                <a:chOff x="3219450" y="2524125"/>
                <a:chExt cx="4011930" cy="2486025"/>
              </a:xfrm>
            </p:grpSpPr>
            <p:sp>
              <p:nvSpPr>
                <p:cNvPr id="7" name="Line 7"/>
                <p:cNvSpPr/>
                <p:nvPr/>
              </p:nvSpPr>
              <p:spPr>
                <a:xfrm>
                  <a:off x="4922520" y="2524125"/>
                  <a:ext cx="129159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590" h="9525">
                      <a:moveTo>
                        <a:pt x="0" y="0"/>
                      </a:moveTo>
                      <a:lnTo>
                        <a:pt x="129159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" name="Line 8"/>
                <p:cNvSpPr/>
                <p:nvPr/>
              </p:nvSpPr>
              <p:spPr>
                <a:xfrm>
                  <a:off x="5116830" y="3019425"/>
                  <a:ext cx="11887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0" h="9525">
                      <a:moveTo>
                        <a:pt x="0" y="0"/>
                      </a:moveTo>
                      <a:lnTo>
                        <a:pt x="118872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9" name="Line 9"/>
                <p:cNvSpPr/>
                <p:nvPr/>
              </p:nvSpPr>
              <p:spPr>
                <a:xfrm>
                  <a:off x="4842510" y="3514725"/>
                  <a:ext cx="208026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260" h="9525">
                      <a:moveTo>
                        <a:pt x="0" y="0"/>
                      </a:moveTo>
                      <a:lnTo>
                        <a:pt x="208026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0" name="Line 10"/>
                <p:cNvSpPr/>
                <p:nvPr/>
              </p:nvSpPr>
              <p:spPr>
                <a:xfrm>
                  <a:off x="4911090" y="4010025"/>
                  <a:ext cx="232029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290" h="9525">
                      <a:moveTo>
                        <a:pt x="0" y="0"/>
                      </a:moveTo>
                      <a:lnTo>
                        <a:pt x="232029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1" name="Line 11"/>
                <p:cNvSpPr/>
                <p:nvPr/>
              </p:nvSpPr>
              <p:spPr>
                <a:xfrm>
                  <a:off x="3219450" y="4505325"/>
                  <a:ext cx="248031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310" h="9525">
                      <a:moveTo>
                        <a:pt x="0" y="0"/>
                      </a:moveTo>
                      <a:lnTo>
                        <a:pt x="248031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2" name="Line 12"/>
                <p:cNvSpPr/>
                <p:nvPr/>
              </p:nvSpPr>
              <p:spPr>
                <a:xfrm>
                  <a:off x="3790950" y="5000625"/>
                  <a:ext cx="258318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3180" h="9525">
                      <a:moveTo>
                        <a:pt x="0" y="0"/>
                      </a:moveTo>
                      <a:lnTo>
                        <a:pt x="258318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4328160" y="2466975"/>
                <a:ext cx="1748790" cy="2590800"/>
                <a:chOff x="4328160" y="2466975"/>
                <a:chExt cx="1748790" cy="2590800"/>
              </a:xfrm>
            </p:grpSpPr>
            <p:sp>
              <p:nvSpPr>
                <p:cNvPr id="14" name="Ellipse 14"/>
                <p:cNvSpPr/>
                <p:nvPr/>
              </p:nvSpPr>
              <p:spPr>
                <a:xfrm>
                  <a:off x="5494020" y="2466975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5" name="Ellipse 15"/>
                <p:cNvSpPr/>
                <p:nvPr/>
              </p:nvSpPr>
              <p:spPr>
                <a:xfrm>
                  <a:off x="5631180" y="2962275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6" name="Ellipse 16"/>
                <p:cNvSpPr/>
                <p:nvPr/>
              </p:nvSpPr>
              <p:spPr>
                <a:xfrm>
                  <a:off x="5779770" y="3457575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7" name="Ellipse 17"/>
                <p:cNvSpPr/>
                <p:nvPr/>
              </p:nvSpPr>
              <p:spPr>
                <a:xfrm>
                  <a:off x="5962650" y="3952875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8" name="Ellipse 18"/>
                <p:cNvSpPr/>
                <p:nvPr/>
              </p:nvSpPr>
              <p:spPr>
                <a:xfrm>
                  <a:off x="4328160" y="4448175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9" name="Ellipse 19"/>
                <p:cNvSpPr/>
                <p:nvPr/>
              </p:nvSpPr>
              <p:spPr>
                <a:xfrm>
                  <a:off x="4956810" y="4943475"/>
                  <a:ext cx="114300" cy="11430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8" name="Group 28"/>
            <p:cNvGrpSpPr/>
            <p:nvPr/>
          </p:nvGrpSpPr>
          <p:grpSpPr>
            <a:xfrm>
              <a:off x="563118" y="2397125"/>
              <a:ext cx="1571625" cy="2799207"/>
              <a:chOff x="563118" y="2397125"/>
              <a:chExt cx="1571625" cy="279920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63118" y="239712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品质—总量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3118" y="2892425"/>
                <a:ext cx="22602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年代—公共设施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3118" y="338772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停车—秩序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18" y="388302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停车—设施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63118" y="437832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绿化—绿地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3118" y="4873625"/>
                <a:ext cx="19493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容积率—密度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041142" y="5302250"/>
              <a:ext cx="4585716" cy="264033"/>
              <a:chOff x="3041142" y="5302250"/>
              <a:chExt cx="4585716" cy="26403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3041142" y="5302250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0.80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046787" y="5302250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1.00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052430" y="5302250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1.20</a:t>
                </a:r>
              </a:p>
            </p:txBody>
          </p:sp>
        </p:grpSp>
      </p:grpSp>
      <p:grpSp>
        <p:nvGrpSpPr>
          <p:cNvPr id="41" name="specific-content"/>
          <p:cNvGrpSpPr/>
          <p:nvPr/>
        </p:nvGrpSpPr>
        <p:grpSpPr>
          <a:xfrm>
            <a:off x="8324469" y="1711325"/>
            <a:ext cx="2461641" cy="3580257"/>
            <a:chOff x="8324469" y="1711325"/>
            <a:chExt cx="2461641" cy="3580257"/>
          </a:xfrm>
        </p:grpSpPr>
        <p:sp>
          <p:nvSpPr>
            <p:cNvPr id="34" name="TextBox 34"/>
            <p:cNvSpPr txBox="1"/>
            <p:nvPr/>
          </p:nvSpPr>
          <p:spPr>
            <a:xfrm>
              <a:off x="8324469" y="1711325"/>
              <a:ext cx="3395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具体内容的相对关联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5993" y="2378075"/>
              <a:ext cx="3349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品质—下水管道　1.187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5993" y="2892425"/>
              <a:ext cx="3349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年代—下水管道　1.182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5993" y="3406775"/>
              <a:ext cx="3349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年代—电梯　　　0.685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5993" y="3921125"/>
              <a:ext cx="3349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容积率—电梯　　1.124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7517" y="4425950"/>
              <a:ext cx="238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以上四项q均＜0.001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5993" y="4968875"/>
              <a:ext cx="3504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修缮、供暖未见相对优势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63118" y="5854700"/>
            <a:ext cx="7026122" cy="322707"/>
            <a:chOff x="563118" y="5854700"/>
            <a:chExt cx="7026122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563118" y="5854700"/>
              <a:ext cx="98965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六项预设比值区间均包含1；具体功能内容的结果依赖对照和设备暴露。</a:t>
              </a:r>
            </a:p>
          </p:txBody>
        </p:sp>
      </p:grpSp>
      <p:sp>
        <p:nvSpPr>
          <p:cNvPr id="44" name="source"/>
          <p:cNvSpPr txBox="1"/>
          <p:nvPr/>
        </p:nvSpPr>
        <p:spPr>
          <a:xfrm>
            <a:off x="565404" y="6419850"/>
            <a:ext cx="7498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表23—24；3公里联合Conley；电梯为日去重，其余为raw</a:t>
            </a:r>
          </a:p>
        </p:txBody>
      </p:sp>
      <p:sp>
        <p:nvSpPr>
          <p:cNvPr id="45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223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共享联系与GE测量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跨类别与环境类别共同结构并存</a:t>
              </a:r>
            </a:p>
          </p:txBody>
        </p:sp>
      </p:grpSp>
      <p:grpSp>
        <p:nvGrpSpPr>
          <p:cNvPr id="11" name="shared-change"/>
          <p:cNvGrpSpPr/>
          <p:nvPr/>
        </p:nvGrpSpPr>
        <p:grpSpPr>
          <a:xfrm>
            <a:off x="553212" y="1739900"/>
            <a:ext cx="3216150" cy="3399282"/>
            <a:chOff x="553212" y="1739900"/>
            <a:chExt cx="3216150" cy="3399282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39900"/>
              <a:ext cx="3395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控制八类非环境残差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3212" y="2403475"/>
              <a:ext cx="45626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0.347 → 0.260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3054350"/>
              <a:ext cx="2831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平均相关下降25.1%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597275"/>
              <a:ext cx="262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PCA第一成分占比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594" y="3997325"/>
              <a:ext cx="27436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47.7% → 40.5%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816475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下降后仍保留正向共同联系</a:t>
              </a:r>
            </a:p>
          </p:txBody>
        </p:sp>
      </p:grpSp>
      <p:grpSp>
        <p:nvGrpSpPr>
          <p:cNvPr id="19" name="ge-fit"/>
          <p:cNvGrpSpPr/>
          <p:nvPr/>
        </p:nvGrpSpPr>
        <p:grpSpPr>
          <a:xfrm>
            <a:off x="6086094" y="1739900"/>
            <a:ext cx="2669154" cy="3494532"/>
            <a:chOff x="6086094" y="1739900"/>
            <a:chExt cx="2669154" cy="3494532"/>
          </a:xfrm>
        </p:grpSpPr>
        <p:sp>
          <p:nvSpPr>
            <p:cNvPr id="12" name="TextBox 12"/>
            <p:cNvSpPr txBox="1"/>
            <p:nvPr/>
          </p:nvSpPr>
          <p:spPr>
            <a:xfrm>
              <a:off x="6086094" y="1739900"/>
              <a:ext cx="27883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G与GE测量模型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7618" y="2349500"/>
              <a:ext cx="3794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G：跨全部14类的共同成分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2759075"/>
              <a:ext cx="3723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E：仅环境类别的共同成分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7618" y="3416300"/>
              <a:ext cx="3241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BIC：1,400.9 → 711.8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87618" y="3854450"/>
              <a:ext cx="29639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CFI：0.932 → 0.979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7618" y="4502150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五类主要环境组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7618" y="4911725"/>
              <a:ext cx="3708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共同度内G份额平均54.4%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563118" y="5854700"/>
            <a:ext cx="6788429" cy="322707"/>
            <a:chOff x="563118" y="5854700"/>
            <a:chExt cx="6788429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563118" y="5854700"/>
              <a:ext cx="95638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相关下降比例、因子份额均不等于“表达意愿占比”；G/E为统计成分。</a:t>
              </a:r>
            </a:p>
          </p:txBody>
        </p:sp>
      </p:grpSp>
      <p:sp>
        <p:nvSpPr>
          <p:cNvPr id="22" name="source"/>
          <p:cNvSpPr txBox="1"/>
          <p:nvPr/>
        </p:nvSpPr>
        <p:spPr>
          <a:xfrm>
            <a:off x="565404" y="6419850"/>
            <a:ext cx="79031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表25—27；规划密度共同度仅5.4%，不宜由其G份额推断机制</a:t>
            </a:r>
          </a:p>
        </p:txBody>
      </p:sp>
      <p:sp>
        <p:nvSpPr>
          <p:cNvPr id="23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3801999" cy="851154"/>
            <a:chOff x="558546" y="377825"/>
            <a:chExt cx="3801999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属性路径与直接关联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38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共同成分之外的内容关联</a:t>
              </a:r>
            </a:p>
          </p:txBody>
        </p:sp>
      </p:grpSp>
      <p:grpSp>
        <p:nvGrpSpPr>
          <p:cNvPr id="12" name="factor-paths"/>
          <p:cNvGrpSpPr/>
          <p:nvPr/>
        </p:nvGrpSpPr>
        <p:grpSpPr>
          <a:xfrm>
            <a:off x="561594" y="1739900"/>
            <a:ext cx="2710049" cy="3645408"/>
            <a:chOff x="561594" y="1739900"/>
            <a:chExt cx="2710049" cy="3645408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39900"/>
              <a:ext cx="32213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属性到G、E的路径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425700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年代、停车、绿化、容积率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854325"/>
              <a:ext cx="2515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到G的区间均为正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521075"/>
              <a:ext cx="2999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品质到G：区间包含0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4187825"/>
              <a:ext cx="21684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五项属性到E：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616450"/>
              <a:ext cx="1811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区间均包含0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642" y="5121275"/>
              <a:ext cx="3849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路径为标准化残差尺度，不是IRR</a:t>
              </a:r>
            </a:p>
          </p:txBody>
        </p:sp>
      </p:grpSp>
      <p:grpSp>
        <p:nvGrpSpPr>
          <p:cNvPr id="23" name="age-direct"/>
          <p:cNvGrpSpPr/>
          <p:nvPr/>
        </p:nvGrpSpPr>
        <p:grpSpPr>
          <a:xfrm>
            <a:off x="6086094" y="1739900"/>
            <a:ext cx="3572256" cy="3673983"/>
            <a:chOff x="6086094" y="1739900"/>
            <a:chExt cx="3572256" cy="3673983"/>
          </a:xfrm>
        </p:grpSpPr>
        <p:sp>
          <p:nvSpPr>
            <p:cNvPr id="13" name="TextBox 13"/>
            <p:cNvSpPr txBox="1"/>
            <p:nvPr/>
          </p:nvSpPr>
          <p:spPr>
            <a:xfrm>
              <a:off x="6086094" y="1739900"/>
              <a:ext cx="26603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年代—公共设施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2511425"/>
              <a:ext cx="1271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非G关联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43594" y="2473325"/>
              <a:ext cx="10074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0.042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87618" y="3082925"/>
              <a:ext cx="21203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单项直接关联δ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43594" y="3044825"/>
              <a:ext cx="10074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0.038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7618" y="3654425"/>
              <a:ext cx="1187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净化后δ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43594" y="3616325"/>
              <a:ext cx="10074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0.027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7618" y="4121150"/>
              <a:ext cx="4439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净化后95%区间：0.007—0.049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7618" y="4740275"/>
              <a:ext cx="5059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停车未见额外对应；绿化证据不一致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142" y="5149850"/>
              <a:ext cx="415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品质净化振荡，无唯一稳定最终集合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563118" y="5854700"/>
            <a:ext cx="7124700" cy="322707"/>
            <a:chOff x="563118" y="5854700"/>
            <a:chExt cx="7124700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563118" y="5854700"/>
              <a:ext cx="10034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年代—公共设施保留小幅额外线索；不能解释为已识别的因果直接效应。</a:t>
              </a:r>
            </a:p>
          </p:txBody>
        </p:sp>
      </p:grpSp>
      <p:sp>
        <p:nvSpPr>
          <p:cNvPr id="26" name="source"/>
          <p:cNvSpPr txBox="1"/>
          <p:nvPr/>
        </p:nvSpPr>
        <p:spPr>
          <a:xfrm>
            <a:off x="565404" y="6419850"/>
            <a:ext cx="90903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表28—30；空间块区间与近似LR检验口径不同；净化区间条件于选定集合</a:t>
            </a:r>
          </a:p>
        </p:txBody>
      </p:sp>
      <p:sp>
        <p:nvSpPr>
          <p:cNvPr id="27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488561" cy="851154"/>
            <a:chOff x="558546" y="377825"/>
            <a:chExt cx="4488561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581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功能配置拆分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343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补充结果与测量模型诊断限制</a:t>
              </a:r>
            </a:p>
          </p:txBody>
        </p:sp>
      </p:grpSp>
      <p:grpSp>
        <p:nvGrpSpPr>
          <p:cNvPr id="11" name="geh-status"/>
          <p:cNvGrpSpPr/>
          <p:nvPr/>
        </p:nvGrpSpPr>
        <p:grpSpPr>
          <a:xfrm>
            <a:off x="561594" y="1739900"/>
            <a:ext cx="2652008" cy="3380232"/>
            <a:chOff x="561594" y="1739900"/>
            <a:chExt cx="2652008" cy="3380232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39900"/>
              <a:ext cx="26603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主拆分与细拆分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482850"/>
              <a:ext cx="2113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GE：诊断通过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987675"/>
              <a:ext cx="26613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GEH：均为边界解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654425"/>
              <a:ext cx="3667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较低BIC不代表H结构稳定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4321175"/>
              <a:ext cx="3770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年代Ma、Mb自身诊断通过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797425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只能作为条件性补充</a:t>
              </a:r>
            </a:p>
          </p:txBody>
        </p:sp>
      </p:grpSp>
      <p:grpSp>
        <p:nvGrpSpPr>
          <p:cNvPr id="40" name="functional-intervals"/>
          <p:cNvGrpSpPr/>
          <p:nvPr/>
        </p:nvGrpSpPr>
        <p:grpSpPr>
          <a:xfrm>
            <a:off x="5706618" y="1778000"/>
            <a:ext cx="5561457" cy="3778758"/>
            <a:chOff x="5706618" y="1778000"/>
            <a:chExt cx="5561457" cy="3778758"/>
          </a:xfrm>
        </p:grpSpPr>
        <p:sp>
          <p:nvSpPr>
            <p:cNvPr id="12" name="TextBox 12"/>
            <p:cNvSpPr txBox="1"/>
            <p:nvPr/>
          </p:nvSpPr>
          <p:spPr>
            <a:xfrm>
              <a:off x="5706618" y="1778000"/>
              <a:ext cx="37979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年代GEH主拆分 / 非G关联</a:t>
              </a:r>
            </a:p>
          </p:txBody>
        </p:sp>
        <p:grpSp>
          <p:nvGrpSpPr>
            <p:cNvPr id="28" name="functional-intervals-chartArea"/>
            <p:cNvGrpSpPr/>
            <p:nvPr/>
          </p:nvGrpSpPr>
          <p:grpSpPr>
            <a:xfrm>
              <a:off x="8105775" y="2286000"/>
              <a:ext cx="3162300" cy="2933700"/>
              <a:chOff x="8105775" y="2286000"/>
              <a:chExt cx="3162300" cy="2933700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9810750" y="2286000"/>
                <a:ext cx="9525" cy="2933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33700">
                    <a:moveTo>
                      <a:pt x="0" y="0"/>
                    </a:moveTo>
                    <a:lnTo>
                      <a:pt x="0" y="293370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20" name="Group 20"/>
              <p:cNvGrpSpPr/>
              <p:nvPr/>
            </p:nvGrpSpPr>
            <p:grpSpPr>
              <a:xfrm>
                <a:off x="8105775" y="2562225"/>
                <a:ext cx="3162300" cy="2438400"/>
                <a:chOff x="8105775" y="2562225"/>
                <a:chExt cx="3162300" cy="2438400"/>
              </a:xfrm>
            </p:grpSpPr>
            <p:sp>
              <p:nvSpPr>
                <p:cNvPr id="14" name="Line 14"/>
                <p:cNvSpPr/>
                <p:nvPr/>
              </p:nvSpPr>
              <p:spPr>
                <a:xfrm>
                  <a:off x="10029825" y="2562225"/>
                  <a:ext cx="6762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275" h="9525">
                      <a:moveTo>
                        <a:pt x="0" y="0"/>
                      </a:moveTo>
                      <a:lnTo>
                        <a:pt x="676275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Line 15"/>
                <p:cNvSpPr/>
                <p:nvPr/>
              </p:nvSpPr>
              <p:spPr>
                <a:xfrm>
                  <a:off x="10010775" y="3048000"/>
                  <a:ext cx="7048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50" h="9525">
                      <a:moveTo>
                        <a:pt x="0" y="0"/>
                      </a:moveTo>
                      <a:lnTo>
                        <a:pt x="70485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Line 16"/>
                <p:cNvSpPr/>
                <p:nvPr/>
              </p:nvSpPr>
              <p:spPr>
                <a:xfrm>
                  <a:off x="9648825" y="3533775"/>
                  <a:ext cx="5048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25" h="9525">
                      <a:moveTo>
                        <a:pt x="0" y="0"/>
                      </a:moveTo>
                      <a:lnTo>
                        <a:pt x="504825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Line 17"/>
                <p:cNvSpPr/>
                <p:nvPr/>
              </p:nvSpPr>
              <p:spPr>
                <a:xfrm>
                  <a:off x="10629900" y="4019550"/>
                  <a:ext cx="6381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175" h="9525">
                      <a:moveTo>
                        <a:pt x="0" y="0"/>
                      </a:moveTo>
                      <a:lnTo>
                        <a:pt x="638175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8" name="Line 18"/>
                <p:cNvSpPr/>
                <p:nvPr/>
              </p:nvSpPr>
              <p:spPr>
                <a:xfrm>
                  <a:off x="10125075" y="4505325"/>
                  <a:ext cx="666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9525">
                      <a:moveTo>
                        <a:pt x="0" y="0"/>
                      </a:moveTo>
                      <a:lnTo>
                        <a:pt x="666750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9" name="Line 19"/>
                <p:cNvSpPr/>
                <p:nvPr/>
              </p:nvSpPr>
              <p:spPr>
                <a:xfrm>
                  <a:off x="8105775" y="4991100"/>
                  <a:ext cx="6000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075" h="9525">
                      <a:moveTo>
                        <a:pt x="0" y="0"/>
                      </a:moveTo>
                      <a:lnTo>
                        <a:pt x="600075" y="0"/>
                      </a:lnTo>
                    </a:path>
                  </a:pathLst>
                </a:custGeom>
                <a:noFill/>
                <a:ln w="28575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8410575" y="2514600"/>
                <a:ext cx="2628900" cy="2524125"/>
                <a:chOff x="8410575" y="2514600"/>
                <a:chExt cx="2628900" cy="2524125"/>
              </a:xfrm>
            </p:grpSpPr>
            <p:sp>
              <p:nvSpPr>
                <p:cNvPr id="21" name="Ellipse 21"/>
                <p:cNvSpPr/>
                <p:nvPr/>
              </p:nvSpPr>
              <p:spPr>
                <a:xfrm>
                  <a:off x="10344150" y="2514600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2" name="Ellipse 22"/>
                <p:cNvSpPr/>
                <p:nvPr/>
              </p:nvSpPr>
              <p:spPr>
                <a:xfrm>
                  <a:off x="10363200" y="3000375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3" name="Ellipse 23"/>
                <p:cNvSpPr/>
                <p:nvPr/>
              </p:nvSpPr>
              <p:spPr>
                <a:xfrm>
                  <a:off x="9877425" y="3486150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4" name="Ellipse 24"/>
                <p:cNvSpPr/>
                <p:nvPr/>
              </p:nvSpPr>
              <p:spPr>
                <a:xfrm>
                  <a:off x="10944225" y="3971925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5" name="Ellipse 25"/>
                <p:cNvSpPr/>
                <p:nvPr/>
              </p:nvSpPr>
              <p:spPr>
                <a:xfrm>
                  <a:off x="10439400" y="4457700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6" name="Ellipse 26"/>
                <p:cNvSpPr/>
                <p:nvPr/>
              </p:nvSpPr>
              <p:spPr>
                <a:xfrm>
                  <a:off x="8410575" y="4943475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35" name="Group 35"/>
            <p:cNvGrpSpPr/>
            <p:nvPr/>
          </p:nvGrpSpPr>
          <p:grpSpPr>
            <a:xfrm>
              <a:off x="5706618" y="2435225"/>
              <a:ext cx="905256" cy="2751582"/>
              <a:chOff x="5706618" y="2435225"/>
              <a:chExt cx="905256" cy="2751582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706618" y="243522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道路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706618" y="2921000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照明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706618" y="340677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配置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706618" y="38925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下水管道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6618" y="4378325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供暖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706618" y="4864100"/>
                <a:ext cx="705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电梯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898892" y="5292725"/>
              <a:ext cx="3347466" cy="264033"/>
              <a:chOff x="7898892" y="5292725"/>
              <a:chExt cx="3347466" cy="2640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898892" y="5292725"/>
                <a:ext cx="7230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−0.20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700392" y="5292725"/>
                <a:ext cx="2207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671930" y="529272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0.15</a:t>
                </a:r>
              </a:p>
            </p:txBody>
          </p:sp>
        </p:grpSp>
      </p:grpSp>
      <p:grpSp>
        <p:nvGrpSpPr>
          <p:cNvPr id="42" name="takeaway"/>
          <p:cNvGrpSpPr/>
          <p:nvPr/>
        </p:nvGrpSpPr>
        <p:grpSpPr>
          <a:xfrm>
            <a:off x="563118" y="5854700"/>
            <a:ext cx="6307127" cy="322707"/>
            <a:chOff x="563118" y="5854700"/>
            <a:chExt cx="6307127" cy="322707"/>
          </a:xfrm>
        </p:grpSpPr>
        <p:sp>
          <p:nvSpPr>
            <p:cNvPr id="41" name="TextBox 41"/>
            <p:cNvSpPr txBox="1"/>
            <p:nvPr/>
          </p:nvSpPr>
          <p:spPr>
            <a:xfrm>
              <a:off x="563118" y="5854700"/>
              <a:ext cx="88899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H路径区间宽且含0；道路、照明线索在后续净化中未稳定保留。</a:t>
              </a:r>
            </a:p>
          </p:txBody>
        </p:sp>
      </p:grpSp>
      <p:sp>
        <p:nvSpPr>
          <p:cNvPr id="43" name="source"/>
          <p:cNvSpPr txBox="1"/>
          <p:nvPr/>
        </p:nvSpPr>
        <p:spPr>
          <a:xfrm>
            <a:off x="565404" y="6419850"/>
            <a:ext cx="81719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表31—32；补充关联条件于该模型，不代表GEH测量结构已稳定</a:t>
            </a:r>
          </a:p>
        </p:txBody>
      </p:sp>
      <p:sp>
        <p:nvSpPr>
          <p:cNvPr id="44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6204966" cy="851154"/>
            <a:chOff x="558546" y="377825"/>
            <a:chExt cx="6204966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07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探索一 / 主要结论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8746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环境对应、识别与共同成分的阶段性认识</a:t>
              </a:r>
            </a:p>
          </p:txBody>
        </p:sp>
      </p:grpSp>
      <p:grpSp>
        <p:nvGrpSpPr>
          <p:cNvPr id="8" name="conclusion-one"/>
          <p:cNvGrpSpPr/>
          <p:nvPr/>
        </p:nvGrpSpPr>
        <p:grpSpPr>
          <a:xfrm>
            <a:off x="561594" y="1758950"/>
            <a:ext cx="2683764" cy="1265682"/>
            <a:chOff x="561594" y="1758950"/>
            <a:chExt cx="2683764" cy="1265682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58950"/>
              <a:ext cx="38041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01　部分反映环境差异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292350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年代—公共设施关联最稳定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701925"/>
              <a:ext cx="3504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其他维度更弱或依赖设定</a:t>
              </a:r>
            </a:p>
          </p:txBody>
        </p:sp>
      </p:grpSp>
      <p:grpSp>
        <p:nvGrpSpPr>
          <p:cNvPr id="12" name="conclusion-two"/>
          <p:cNvGrpSpPr/>
          <p:nvPr/>
        </p:nvGrpSpPr>
        <p:grpSpPr>
          <a:xfrm>
            <a:off x="6467094" y="1758950"/>
            <a:ext cx="2674408" cy="1265682"/>
            <a:chOff x="6467094" y="1758950"/>
            <a:chExt cx="2674408" cy="1265682"/>
          </a:xfrm>
        </p:grpSpPr>
        <p:sp>
          <p:nvSpPr>
            <p:cNvPr id="9" name="TextBox 9"/>
            <p:cNvSpPr txBox="1"/>
            <p:nvPr/>
          </p:nvSpPr>
          <p:spPr>
            <a:xfrm>
              <a:off x="6467094" y="1758950"/>
              <a:ext cx="38041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02　排序识别能力有限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8618" y="2292350"/>
              <a:ext cx="3504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调整后召回仅略高于随机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8618" y="2701925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尚无样本外识别验证</a:t>
              </a:r>
            </a:p>
          </p:txBody>
        </p:sp>
      </p:grpSp>
      <p:grpSp>
        <p:nvGrpSpPr>
          <p:cNvPr id="16" name="conclusion-three"/>
          <p:cNvGrpSpPr/>
          <p:nvPr/>
        </p:nvGrpSpPr>
        <p:grpSpPr>
          <a:xfrm>
            <a:off x="561594" y="3711575"/>
            <a:ext cx="2936917" cy="1265682"/>
            <a:chOff x="561594" y="3711575"/>
            <a:chExt cx="2936917" cy="1265682"/>
          </a:xfrm>
        </p:grpSpPr>
        <p:sp>
          <p:nvSpPr>
            <p:cNvPr id="13" name="TextBox 13"/>
            <p:cNvSpPr txBox="1"/>
            <p:nvPr/>
          </p:nvSpPr>
          <p:spPr>
            <a:xfrm>
              <a:off x="561594" y="3711575"/>
              <a:ext cx="41716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03　共享与特异线索并存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4244975"/>
              <a:ext cx="3504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跨类别共同变化仍较明显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4654550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年代、下水等保留内容线索</a:t>
              </a:r>
            </a:p>
          </p:txBody>
        </p:sp>
      </p:grpSp>
      <p:grpSp>
        <p:nvGrpSpPr>
          <p:cNvPr id="20" name="conclusion-four"/>
          <p:cNvGrpSpPr/>
          <p:nvPr/>
        </p:nvGrpSpPr>
        <p:grpSpPr>
          <a:xfrm>
            <a:off x="6467094" y="3711575"/>
            <a:ext cx="3021518" cy="1265682"/>
            <a:chOff x="6467094" y="3711575"/>
            <a:chExt cx="3021518" cy="1265682"/>
          </a:xfrm>
        </p:grpSpPr>
        <p:sp>
          <p:nvSpPr>
            <p:cNvPr id="17" name="TextBox 17"/>
            <p:cNvSpPr txBox="1"/>
            <p:nvPr/>
          </p:nvSpPr>
          <p:spPr>
            <a:xfrm>
              <a:off x="6467094" y="3711575"/>
              <a:ext cx="41716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04　模型诊断仍有未决项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4244975"/>
              <a:ext cx="4287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CAR、GEH与部分净化未通过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4654550"/>
              <a:ext cx="3504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局部残差空间结构仍存在</a:t>
              </a:r>
            </a:p>
          </p:txBody>
        </p:sp>
      </p:grpSp>
      <p:grpSp>
        <p:nvGrpSpPr>
          <p:cNvPr id="22" name="limits"/>
          <p:cNvGrpSpPr/>
          <p:nvPr/>
        </p:nvGrpSpPr>
        <p:grpSpPr>
          <a:xfrm>
            <a:off x="563118" y="5807075"/>
            <a:ext cx="6828343" cy="322707"/>
            <a:chOff x="563118" y="5807075"/>
            <a:chExt cx="6828343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5807075"/>
              <a:ext cx="96196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解释边界：环境代理指标 · 非随机覆盖 · 横截面关联 · 未测量表达意愿</a:t>
              </a:r>
            </a:p>
          </p:txBody>
        </p:sp>
      </p:grpSp>
      <p:sp>
        <p:nvSpPr>
          <p:cNvPr id="23" name="source"/>
          <p:cNvSpPr txBox="1"/>
          <p:nvPr/>
        </p:nvSpPr>
        <p:spPr>
          <a:xfrm>
            <a:off x="565404" y="6419850"/>
            <a:ext cx="80555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来源：环境报告 第九章；后续识别需独立问题核查、设备暴露信息或样本外验证</a:t>
            </a:r>
          </a:p>
        </p:txBody>
      </p:sp>
      <p:sp>
        <p:nvSpPr>
          <p:cNvPr id="24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A16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145280" cy="851154"/>
            <a:chOff x="558546" y="377825"/>
            <a:chExt cx="4145280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房龄与两类居住诉求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8633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研究问题、变量与分析流程</a:t>
              </a:r>
            </a:p>
          </p:txBody>
        </p:sp>
      </p:grpSp>
      <p:grpSp>
        <p:nvGrpSpPr>
          <p:cNvPr id="8" name="research-questions"/>
          <p:cNvGrpSpPr/>
          <p:nvPr/>
        </p:nvGrpSpPr>
        <p:grpSpPr>
          <a:xfrm>
            <a:off x="561594" y="1778000"/>
            <a:ext cx="6320028" cy="1389507"/>
            <a:chOff x="561594" y="1778000"/>
            <a:chExt cx="6320028" cy="1389507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78000"/>
              <a:ext cx="89080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房龄与基础居住问题、居住配套诉求的关联有何差异？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1594" y="2301875"/>
              <a:ext cx="74379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物业记录与挂牌房价是否调节两类房龄梯度？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844800"/>
              <a:ext cx="69737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房龄＝2025－AOI平均建成年份；回归按每10年计</a:t>
              </a:r>
            </a:p>
          </p:txBody>
        </p:sp>
      </p:grpSp>
      <p:grpSp>
        <p:nvGrpSpPr>
          <p:cNvPr id="17" name="analysis-flow"/>
          <p:cNvGrpSpPr/>
          <p:nvPr/>
        </p:nvGrpSpPr>
        <p:grpSpPr>
          <a:xfrm>
            <a:off x="553212" y="3603625"/>
            <a:ext cx="10376154" cy="1059307"/>
            <a:chOff x="553212" y="3603625"/>
            <a:chExt cx="10376154" cy="1059307"/>
          </a:xfrm>
        </p:grpSpPr>
        <p:sp>
          <p:nvSpPr>
            <p:cNvPr id="9" name="TextBox 9"/>
            <p:cNvSpPr txBox="1"/>
            <p:nvPr/>
          </p:nvSpPr>
          <p:spPr>
            <a:xfrm>
              <a:off x="553212" y="3603625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340225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定义两类诉求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10712" y="3603625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0618" y="4340225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描述与空间对应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68212" y="3603625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8118" y="4340225"/>
              <a:ext cx="22221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联合PPML比较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25712" y="3603625"/>
              <a:ext cx="8659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35618" y="4340225"/>
              <a:ext cx="2571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条件调节与稳健性</a:t>
              </a:r>
            </a:p>
          </p:txBody>
        </p:sp>
      </p:grpSp>
      <p:grpSp>
        <p:nvGrpSpPr>
          <p:cNvPr id="19" name="scope"/>
          <p:cNvGrpSpPr/>
          <p:nvPr/>
        </p:nvGrpSpPr>
        <p:grpSpPr>
          <a:xfrm>
            <a:off x="563118" y="5854700"/>
            <a:ext cx="6508264" cy="322707"/>
            <a:chOff x="563118" y="5854700"/>
            <a:chExt cx="6508264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563118" y="5854700"/>
              <a:ext cx="9171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2025年小区横截面；本次探索独立采用两类诉求定义与模型规格。</a:t>
              </a:r>
            </a:p>
          </p:txBody>
        </p:sp>
      </p:grpSp>
      <p:sp>
        <p:nvSpPr>
          <p:cNvPr id="20" name="source"/>
          <p:cNvSpPr txBox="1"/>
          <p:nvPr/>
        </p:nvSpPr>
        <p:spPr>
          <a:xfrm>
            <a:off x="565404" y="6419850"/>
            <a:ext cx="60830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来源：《北京小区房龄与两类居住诉求分析报告》概述、表2</a:t>
            </a:r>
          </a:p>
        </p:txBody>
      </p:sp>
      <p:sp>
        <p:nvSpPr>
          <p:cNvPr id="21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145280" cy="851154"/>
            <a:chOff x="558546" y="377825"/>
            <a:chExt cx="4145280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326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因变量构建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8633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两类诉求的定义与内容构成</a:t>
              </a:r>
            </a:p>
          </p:txBody>
        </p:sp>
      </p:grpSp>
      <p:grpSp>
        <p:nvGrpSpPr>
          <p:cNvPr id="12" name="basic-definition"/>
          <p:cNvGrpSpPr/>
          <p:nvPr/>
        </p:nvGrpSpPr>
        <p:grpSpPr>
          <a:xfrm>
            <a:off x="553212" y="1768475"/>
            <a:ext cx="2569464" cy="3664458"/>
            <a:chOff x="553212" y="1768475"/>
            <a:chExt cx="2569464" cy="3664458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68475"/>
              <a:ext cx="33341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基础居住问题 / 六类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349500"/>
              <a:ext cx="3469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房屋滴漏 · 墙体地面开裂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797175"/>
              <a:ext cx="3469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下水管道堵塞 · 线路老化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244850"/>
              <a:ext cx="28475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危险房屋 · 地基下陷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3212" y="3937000"/>
              <a:ext cx="241249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71.73%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625975"/>
              <a:ext cx="31931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组内记录来自房屋滴漏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642" y="5168900"/>
              <a:ext cx="3641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六类操作口径仍保留待确认标记</a:t>
              </a:r>
            </a:p>
          </p:txBody>
        </p:sp>
      </p:grpSp>
      <p:grpSp>
        <p:nvGrpSpPr>
          <p:cNvPr id="20" name="support-definition"/>
          <p:cNvGrpSpPr/>
          <p:nvPr/>
        </p:nvGrpSpPr>
        <p:grpSpPr>
          <a:xfrm>
            <a:off x="6458712" y="1768475"/>
            <a:ext cx="2692146" cy="3664458"/>
            <a:chOff x="6458712" y="1768475"/>
            <a:chExt cx="2692146" cy="3664458"/>
          </a:xfrm>
        </p:grpSpPr>
        <p:sp>
          <p:nvSpPr>
            <p:cNvPr id="13" name="TextBox 13"/>
            <p:cNvSpPr txBox="1"/>
            <p:nvPr/>
          </p:nvSpPr>
          <p:spPr>
            <a:xfrm>
              <a:off x="6467094" y="1768475"/>
              <a:ext cx="33341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居住配套诉求 / 四类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8618" y="2349500"/>
              <a:ext cx="3469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停车位 · 小区内停车设施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8618" y="2797175"/>
              <a:ext cx="28475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健身器材 · 公共照明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8618" y="3244850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主口径不含停车秩序与绿地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58712" y="3937000"/>
              <a:ext cx="241249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75.70%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4625975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组内记录来自两类停车诉求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142" y="5168900"/>
              <a:ext cx="3641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小区路灯仅用于扩展敏感性分析</a:t>
              </a:r>
            </a:p>
          </p:txBody>
        </p:sp>
      </p:grpSp>
      <p:grpSp>
        <p:nvGrpSpPr>
          <p:cNvPr id="22" name="takeaway"/>
          <p:cNvGrpSpPr/>
          <p:nvPr/>
        </p:nvGrpSpPr>
        <p:grpSpPr>
          <a:xfrm>
            <a:off x="563118" y="5854700"/>
            <a:ext cx="6902577" cy="322707"/>
            <a:chOff x="563118" y="5854700"/>
            <a:chExt cx="6902577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5854700"/>
              <a:ext cx="97236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两组分类互不共享；配套诉求可同时包含损坏、供给不足与新增要求。</a:t>
              </a:r>
            </a:p>
          </p:txBody>
        </p:sp>
      </p:grpSp>
      <p:sp>
        <p:nvSpPr>
          <p:cNvPr id="23" name="source"/>
          <p:cNvSpPr txBox="1"/>
          <p:nvPr/>
        </p:nvSpPr>
        <p:spPr>
          <a:xfrm>
            <a:off x="565404" y="6419850"/>
            <a:ext cx="5706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表1；组内构成基于n＝6,335的原始计数</a:t>
            </a:r>
          </a:p>
        </p:txBody>
      </p:sp>
      <p:sp>
        <p:nvSpPr>
          <p:cNvPr id="24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B2 / 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518404" cy="851154"/>
            <a:chOff x="558546" y="377825"/>
            <a:chExt cx="5518404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835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样本与估计设计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7857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共同样本、逐步控制与联合差异检验</a:t>
              </a:r>
            </a:p>
          </p:txBody>
        </p:sp>
      </p:grpSp>
      <p:grpSp>
        <p:nvGrpSpPr>
          <p:cNvPr id="12" name="sample-summary"/>
          <p:cNvGrpSpPr/>
          <p:nvPr/>
        </p:nvGrpSpPr>
        <p:grpSpPr>
          <a:xfrm>
            <a:off x="553212" y="1698625"/>
            <a:ext cx="3044052" cy="3762883"/>
            <a:chOff x="553212" y="1698625"/>
            <a:chExt cx="3044052" cy="3762883"/>
          </a:xfrm>
        </p:grpSpPr>
        <p:sp>
          <p:nvSpPr>
            <p:cNvPr id="5" name="TextBox 5"/>
            <p:cNvSpPr txBox="1"/>
            <p:nvPr/>
          </p:nvSpPr>
          <p:spPr>
            <a:xfrm>
              <a:off x="553212" y="1698625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6,335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320925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共同描述主样本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3212" y="279400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6,244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416300"/>
              <a:ext cx="319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M0—M3扩展固定样本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4206875"/>
              <a:ext cx="3038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年代覆盖完整：6,232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683125"/>
              <a:ext cx="3038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全部名称核验：4,238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642" y="5197475"/>
              <a:ext cx="4305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raw与日去重样本一致；保留有效零值</a:t>
              </a:r>
            </a:p>
          </p:txBody>
        </p:sp>
      </p:grpSp>
      <p:grpSp>
        <p:nvGrpSpPr>
          <p:cNvPr id="23" name="model-design"/>
          <p:cNvGrpSpPr/>
          <p:nvPr/>
        </p:nvGrpSpPr>
        <p:grpSpPr>
          <a:xfrm>
            <a:off x="4466844" y="1758950"/>
            <a:ext cx="4334256" cy="3456432"/>
            <a:chOff x="4466844" y="1758950"/>
            <a:chExt cx="4334256" cy="3456432"/>
          </a:xfrm>
        </p:grpSpPr>
        <p:sp>
          <p:nvSpPr>
            <p:cNvPr id="13" name="TextBox 13"/>
            <p:cNvSpPr txBox="1"/>
            <p:nvPr/>
          </p:nvSpPr>
          <p:spPr>
            <a:xfrm>
              <a:off x="4466844" y="1758950"/>
              <a:ext cx="51651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联合PPML / 两组各有全部系数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68368" y="2444750"/>
              <a:ext cx="539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en-US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M0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0368" y="2444750"/>
              <a:ext cx="381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房龄＋户数对数＋面积对数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8368" y="3016250"/>
              <a:ext cx="539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en-US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M1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30368" y="3016250"/>
              <a:ext cx="4437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增加区固定效应与二次空间趋势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8368" y="3587750"/>
              <a:ext cx="539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en-US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M2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30368" y="3587750"/>
              <a:ext cx="5059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增加挂牌价、商品房比例、物业记录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8368" y="4159250"/>
              <a:ext cx="539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en-US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M3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0368" y="4159250"/>
              <a:ext cx="4489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增加房龄×房价、房龄×物业记录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8368" y="4892675"/>
              <a:ext cx="4748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联合协方差直接检验两组梯度差异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563118" y="5854700"/>
            <a:ext cx="7446705" cy="322707"/>
            <a:chOff x="563118" y="5854700"/>
            <a:chExt cx="7446705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563118" y="5854700"/>
              <a:ext cx="104853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主推断：3公里Conley_PSD＋BH校正；户数作为协变量，不固定系数为1。</a:t>
              </a:r>
            </a:p>
          </p:txBody>
        </p:sp>
      </p:grpSp>
      <p:sp>
        <p:nvSpPr>
          <p:cNvPr id="26" name="source"/>
          <p:cNvSpPr txBox="1"/>
          <p:nvPr/>
        </p:nvSpPr>
        <p:spPr>
          <a:xfrm>
            <a:off x="565404" y="6419850"/>
            <a:ext cx="54728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表3—4、第三章；M3未设置三重交互</a:t>
            </a:r>
          </a:p>
        </p:txBody>
      </p:sp>
      <p:sp>
        <p:nvSpPr>
          <p:cNvPr id="27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B3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175123" cy="851154"/>
            <a:chOff x="558546" y="377825"/>
            <a:chExt cx="5175123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07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描述统计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305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两类诉求的规模、零值与集中程度</a:t>
              </a:r>
            </a:p>
          </p:txBody>
        </p:sp>
      </p:grpSp>
      <p:grpSp>
        <p:nvGrpSpPr>
          <p:cNvPr id="12" name="basic-distribution"/>
          <p:cNvGrpSpPr/>
          <p:nvPr/>
        </p:nvGrpSpPr>
        <p:grpSpPr>
          <a:xfrm>
            <a:off x="553212" y="1758950"/>
            <a:ext cx="2841235" cy="3589782"/>
            <a:chOff x="553212" y="1758950"/>
            <a:chExt cx="2841235" cy="3589782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58950"/>
              <a:ext cx="22928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基础居住问题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3212" y="2336800"/>
              <a:ext cx="2186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43,431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949575"/>
              <a:ext cx="1897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原始记录 / 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625850"/>
              <a:ext cx="39369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零诉求小区　　　　25.45%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4092575"/>
              <a:ext cx="40238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前10%记录占比　　 49.94%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4559300"/>
              <a:ext cx="36086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方差 / 均值　　　　21.93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118" y="5026025"/>
              <a:ext cx="3833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日去重计数　　　　38,695</a:t>
              </a:r>
            </a:p>
          </p:txBody>
        </p:sp>
      </p:grpSp>
      <p:grpSp>
        <p:nvGrpSpPr>
          <p:cNvPr id="20" name="support-distribution"/>
          <p:cNvGrpSpPr/>
          <p:nvPr/>
        </p:nvGrpSpPr>
        <p:grpSpPr>
          <a:xfrm>
            <a:off x="6458712" y="1758950"/>
            <a:ext cx="2841235" cy="3589782"/>
            <a:chOff x="6458712" y="1758950"/>
            <a:chExt cx="2841235" cy="3589782"/>
          </a:xfrm>
        </p:grpSpPr>
        <p:sp>
          <p:nvSpPr>
            <p:cNvPr id="13" name="TextBox 13"/>
            <p:cNvSpPr txBox="1"/>
            <p:nvPr/>
          </p:nvSpPr>
          <p:spPr>
            <a:xfrm>
              <a:off x="6467094" y="1758950"/>
              <a:ext cx="22928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居住配套诉求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58712" y="2336800"/>
              <a:ext cx="2186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41,025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8618" y="2949575"/>
              <a:ext cx="1897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原始记录 / 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8618" y="3625850"/>
              <a:ext cx="39369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零诉求小区　　　　29.30%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4092575"/>
              <a:ext cx="40238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前10%记录占比　　 53.98%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4559300"/>
              <a:ext cx="36086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方差 / 均值　　　　31.98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5026025"/>
              <a:ext cx="3833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日去重计数　　　　36,648</a:t>
              </a:r>
            </a:p>
          </p:txBody>
        </p:sp>
      </p:grpSp>
      <p:grpSp>
        <p:nvGrpSpPr>
          <p:cNvPr id="22" name="takeaway"/>
          <p:cNvGrpSpPr/>
          <p:nvPr/>
        </p:nvGrpSpPr>
        <p:grpSpPr>
          <a:xfrm>
            <a:off x="563118" y="5854700"/>
            <a:ext cx="6594937" cy="322707"/>
            <a:chOff x="563118" y="5854700"/>
            <a:chExt cx="6594937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5854700"/>
              <a:ext cx="9292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总量接近，配套诉求更集中；样本平均房龄23.50年，中位数23年。</a:t>
              </a:r>
            </a:p>
          </p:txBody>
        </p:sp>
      </p:grpSp>
      <p:sp>
        <p:nvSpPr>
          <p:cNvPr id="23" name="source"/>
          <p:cNvSpPr txBox="1"/>
          <p:nvPr/>
        </p:nvSpPr>
        <p:spPr>
          <a:xfrm>
            <a:off x="565404" y="6419850"/>
            <a:ext cx="62849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表5—6；n＝6,335，除日去重外均为原始计数</a:t>
            </a:r>
          </a:p>
        </p:txBody>
      </p:sp>
      <p:sp>
        <p:nvSpPr>
          <p:cNvPr id="24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B4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年代分组与初步关联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年代分组梯度与调整前后的相关</a:t>
              </a:r>
            </a:p>
          </p:txBody>
        </p:sp>
      </p:grpSp>
      <p:grpSp>
        <p:nvGrpSpPr>
          <p:cNvPr id="26" name="cohort-lines"/>
          <p:cNvGrpSpPr/>
          <p:nvPr/>
        </p:nvGrpSpPr>
        <p:grpSpPr>
          <a:xfrm>
            <a:off x="563118" y="1768475"/>
            <a:ext cx="7071022" cy="3731133"/>
            <a:chOff x="563118" y="1768475"/>
            <a:chExt cx="7071022" cy="3731133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68475"/>
              <a:ext cx="31413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每千户诉求 / 总和口径</a:t>
              </a:r>
            </a:p>
          </p:txBody>
        </p:sp>
        <p:grpSp>
          <p:nvGrpSpPr>
            <p:cNvPr id="15" name="cohort-lines-chartArea"/>
            <p:cNvGrpSpPr/>
            <p:nvPr/>
          </p:nvGrpSpPr>
          <p:grpSpPr>
            <a:xfrm>
              <a:off x="1190625" y="2566035"/>
              <a:ext cx="6191250" cy="2491740"/>
              <a:chOff x="1190625" y="2566035"/>
              <a:chExt cx="6191250" cy="249174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1238250" y="504825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</a:ln>
            </p:spPr>
            <p:txBody>
              <a:bodyPr/>
              <a:p/>
            </p:txBody>
          </p:sp>
          <p:sp>
            <p:nvSpPr>
              <p:cNvPr id="7" name="Polyline 7"/>
              <p:cNvSpPr/>
              <p:nvPr/>
            </p:nvSpPr>
            <p:spPr>
              <a:xfrm>
                <a:off x="1238250" y="2613660"/>
                <a:ext cx="6096000" cy="648653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648653">
                    <a:moveTo>
                      <a:pt x="0" y="0"/>
                    </a:moveTo>
                    <a:lnTo>
                      <a:pt x="1524000" y="34290"/>
                    </a:lnTo>
                    <a:lnTo>
                      <a:pt x="3048000" y="334328"/>
                    </a:lnTo>
                    <a:lnTo>
                      <a:pt x="4572000" y="620078"/>
                    </a:lnTo>
                    <a:lnTo>
                      <a:pt x="6096000" y="648653"/>
                    </a:lnTo>
                  </a:path>
                </a:pathLst>
              </a:custGeom>
              <a:noFill/>
              <a:ln w="38100">
                <a:solidFill>
                  <a:srgbClr val="7B2635"/>
                </a:solidFill>
              </a:ln>
            </p:spPr>
            <p:txBody>
              <a:bodyPr/>
              <a:p/>
            </p:txBody>
          </p:sp>
          <p:sp>
            <p:nvSpPr>
              <p:cNvPr id="8" name="Polyline 8"/>
              <p:cNvSpPr/>
              <p:nvPr/>
            </p:nvSpPr>
            <p:spPr>
              <a:xfrm>
                <a:off x="1238250" y="3082290"/>
                <a:ext cx="6096000" cy="340042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340042">
                    <a:moveTo>
                      <a:pt x="0" y="2857"/>
                    </a:moveTo>
                    <a:lnTo>
                      <a:pt x="1524000" y="340042"/>
                    </a:lnTo>
                    <a:lnTo>
                      <a:pt x="3048000" y="0"/>
                    </a:lnTo>
                    <a:lnTo>
                      <a:pt x="4572000" y="180022"/>
                    </a:lnTo>
                    <a:lnTo>
                      <a:pt x="6096000" y="202882"/>
                    </a:lnTo>
                  </a:path>
                </a:pathLst>
              </a:custGeom>
              <a:noFill/>
              <a:ln w="28575">
                <a:solidFill>
                  <a:srgbClr val="8F8F8F"/>
                </a:solidFill>
                <a:custDash>
                  <a:ds d="233333" sp="166667"/>
                </a:custDash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1190625" y="2566035"/>
                <a:ext cx="6191250" cy="743903"/>
                <a:chOff x="1190625" y="2566035"/>
                <a:chExt cx="6191250" cy="743903"/>
              </a:xfrm>
            </p:grpSpPr>
            <p:sp>
              <p:nvSpPr>
                <p:cNvPr id="9" name="Ellipse 9"/>
                <p:cNvSpPr/>
                <p:nvPr/>
              </p:nvSpPr>
              <p:spPr>
                <a:xfrm>
                  <a:off x="1190625" y="2566035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0" name="Ellipse 10"/>
                <p:cNvSpPr/>
                <p:nvPr/>
              </p:nvSpPr>
              <p:spPr>
                <a:xfrm>
                  <a:off x="2714625" y="2600325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1" name="Ellipse 11"/>
                <p:cNvSpPr/>
                <p:nvPr/>
              </p:nvSpPr>
              <p:spPr>
                <a:xfrm>
                  <a:off x="4238625" y="2900362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2" name="Ellipse 12"/>
                <p:cNvSpPr/>
                <p:nvPr/>
              </p:nvSpPr>
              <p:spPr>
                <a:xfrm>
                  <a:off x="5762625" y="3186112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3" name="Ellipse 13"/>
                <p:cNvSpPr/>
                <p:nvPr/>
              </p:nvSpPr>
              <p:spPr>
                <a:xfrm>
                  <a:off x="7286625" y="3214688"/>
                  <a:ext cx="95250" cy="952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3" name="Group 23"/>
            <p:cNvGrpSpPr/>
            <p:nvPr/>
          </p:nvGrpSpPr>
          <p:grpSpPr>
            <a:xfrm>
              <a:off x="812292" y="2082800"/>
              <a:ext cx="6821848" cy="3416808"/>
              <a:chOff x="812292" y="2082800"/>
              <a:chExt cx="6821848" cy="341680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69442" y="4940300"/>
                <a:ext cx="2207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2292" y="2082800"/>
                <a:ext cx="3622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8403" y="5235575"/>
                <a:ext cx="899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1980前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76012" y="5235575"/>
                <a:ext cx="7724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1980s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900012" y="5235575"/>
                <a:ext cx="7724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1990s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424012" y="5235575"/>
                <a:ext cx="7724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en-US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2000s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84403" y="5235575"/>
                <a:ext cx="899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2010后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668018" y="2244725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基础问题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8493" y="3616325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配套诉求</a:t>
              </a:r>
            </a:p>
          </p:txBody>
        </p:sp>
      </p:grpSp>
      <p:grpSp>
        <p:nvGrpSpPr>
          <p:cNvPr id="35" name="rank-results"/>
          <p:cNvGrpSpPr/>
          <p:nvPr/>
        </p:nvGrpSpPr>
        <p:grpSpPr>
          <a:xfrm>
            <a:off x="8467344" y="1778000"/>
            <a:ext cx="2017107" cy="3683508"/>
            <a:chOff x="8467344" y="1778000"/>
            <a:chExt cx="2017107" cy="3683508"/>
          </a:xfrm>
        </p:grpSpPr>
        <p:sp>
          <p:nvSpPr>
            <p:cNvPr id="27" name="TextBox 27"/>
            <p:cNvSpPr txBox="1"/>
            <p:nvPr/>
          </p:nvSpPr>
          <p:spPr>
            <a:xfrm>
              <a:off x="8468868" y="1778000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每千户简单相关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8868" y="2216150"/>
              <a:ext cx="1794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　0.019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68868" y="2625725"/>
              <a:ext cx="1976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配套　−0.035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8868" y="3330575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控制后计数偏秩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68868" y="3759200"/>
              <a:ext cx="1794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　0.123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8868" y="4168775"/>
              <a:ext cx="1794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配套　0.086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7344" y="4721225"/>
              <a:ext cx="21100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差值　0.036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0392" y="5197475"/>
              <a:ext cx="287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95%区间：0.010—0.061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63118" y="5854700"/>
            <a:ext cx="8013192" cy="322707"/>
            <a:chOff x="563118" y="5854700"/>
            <a:chExt cx="8013192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563118" y="5854700"/>
              <a:ext cx="112784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基础组年代梯度更清楚；简单相关与偏秩的结局口径不同，不能直接作控制分解。</a:t>
              </a:r>
            </a:p>
          </p:txBody>
        </p:sp>
      </p:grpSp>
      <p:sp>
        <p:nvSpPr>
          <p:cNvPr id="38" name="source"/>
          <p:cNvSpPr txBox="1"/>
          <p:nvPr/>
        </p:nvSpPr>
        <p:spPr>
          <a:xfrm>
            <a:off x="565404" y="6419850"/>
            <a:ext cx="7089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表7—8；n＝6,335；3公里空间块区间，未作多重校正</a:t>
            </a:r>
          </a:p>
        </p:txBody>
      </p:sp>
      <p:sp>
        <p:nvSpPr>
          <p:cNvPr id="39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B5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581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网格空间对应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房龄与两类诉求的空间对应较弱</a:t>
              </a:r>
            </a:p>
          </p:txBody>
        </p:sp>
      </p:grpSp>
      <p:grpSp>
        <p:nvGrpSpPr>
          <p:cNvPr id="9" name="grid-correlations"/>
          <p:cNvGrpSpPr/>
          <p:nvPr/>
        </p:nvGrpSpPr>
        <p:grpSpPr>
          <a:xfrm>
            <a:off x="553212" y="1708150"/>
            <a:ext cx="7709154" cy="1021207"/>
            <a:chOff x="553212" y="1708150"/>
            <a:chExt cx="7709154" cy="1021207"/>
          </a:xfrm>
        </p:grpSpPr>
        <p:sp>
          <p:nvSpPr>
            <p:cNvPr id="5" name="TextBox 5"/>
            <p:cNvSpPr txBox="1"/>
            <p:nvPr/>
          </p:nvSpPr>
          <p:spPr>
            <a:xfrm>
              <a:off x="553212" y="170815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0.078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406650"/>
              <a:ext cx="2571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基础问题网格相关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58712" y="1708150"/>
              <a:ext cx="22054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−0.022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68618" y="2406650"/>
              <a:ext cx="2571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配套诉求网格相关</a:t>
              </a:r>
            </a:p>
          </p:txBody>
        </p:sp>
      </p:grpSp>
      <p:grpSp>
        <p:nvGrpSpPr>
          <p:cNvPr id="24" name="grid-counts"/>
          <p:cNvGrpSpPr/>
          <p:nvPr/>
        </p:nvGrpSpPr>
        <p:grpSpPr>
          <a:xfrm>
            <a:off x="563118" y="3397250"/>
            <a:ext cx="11057382" cy="1865757"/>
            <a:chOff x="563118" y="3397250"/>
            <a:chExt cx="11057382" cy="1865757"/>
          </a:xfrm>
        </p:grpSpPr>
        <p:grpSp>
          <p:nvGrpSpPr>
            <p:cNvPr id="23" name="Group 23"/>
            <p:cNvGrpSpPr/>
            <p:nvPr/>
          </p:nvGrpSpPr>
          <p:grpSpPr>
            <a:xfrm>
              <a:off x="563118" y="3397250"/>
              <a:ext cx="11057382" cy="1865757"/>
              <a:chOff x="563118" y="3397250"/>
              <a:chExt cx="11057382" cy="186575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63118" y="33972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对应类型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087618" y="33972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基础问题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45118" y="339725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配套诉求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571500" y="378142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3118" y="3987800"/>
                <a:ext cx="15865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同高 / 同低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087618" y="3987800"/>
                <a:ext cx="13804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107 / 101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945118" y="3987800"/>
                <a:ext cx="10344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91 / 88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63118" y="4464050"/>
                <a:ext cx="22602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房龄高—诉求低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87618" y="4464050"/>
                <a:ext cx="4293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75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45118" y="4464050"/>
                <a:ext cx="4293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3118" y="4940300"/>
                <a:ext cx="22602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房龄低—诉求高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7618" y="4940300"/>
                <a:ext cx="4293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84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945118" y="4940300"/>
                <a:ext cx="6023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</p:grpSp>
      </p:grpSp>
      <p:grpSp>
        <p:nvGrpSpPr>
          <p:cNvPr id="26" name="takeaway"/>
          <p:cNvGrpSpPr/>
          <p:nvPr/>
        </p:nvGrpSpPr>
        <p:grpSpPr>
          <a:xfrm>
            <a:off x="563118" y="5854700"/>
            <a:ext cx="7050511" cy="322707"/>
            <a:chOff x="563118" y="5854700"/>
            <a:chExt cx="7050511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563118" y="5854700"/>
              <a:ext cx="9930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“房龄高—诉求低”是相对分组，不代表漏报、沉默或实际问题识别错误。</a:t>
              </a:r>
            </a:p>
          </p:txBody>
        </p:sp>
      </p:grpSp>
      <p:sp>
        <p:nvSpPr>
          <p:cNvPr id="27" name="source"/>
          <p:cNvSpPr txBox="1"/>
          <p:nvPr/>
        </p:nvSpPr>
        <p:spPr>
          <a:xfrm>
            <a:off x="565404" y="6419850"/>
            <a:ext cx="87696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表9；1公里网格，811个有效网格，至少3个共同样本AOI；未调整背景</a:t>
            </a:r>
          </a:p>
        </p:txBody>
      </p:sp>
      <p:sp>
        <p:nvSpPr>
          <p:cNvPr id="28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295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联合PPML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两类诉求的房龄关联及梯度差异</a:t>
              </a:r>
            </a:p>
          </p:txBody>
        </p:sp>
      </p:grpSp>
      <p:grpSp>
        <p:nvGrpSpPr>
          <p:cNvPr id="35" name="age-irr-pairs"/>
          <p:cNvGrpSpPr/>
          <p:nvPr/>
        </p:nvGrpSpPr>
        <p:grpSpPr>
          <a:xfrm>
            <a:off x="563118" y="1768475"/>
            <a:ext cx="7335857" cy="3950208"/>
            <a:chOff x="563118" y="1768475"/>
            <a:chExt cx="7335857" cy="395020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68475"/>
              <a:ext cx="4416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房龄增加10年的IRR及95%区间</a:t>
              </a:r>
            </a:p>
          </p:txBody>
        </p:sp>
        <p:grpSp>
          <p:nvGrpSpPr>
            <p:cNvPr id="23" name="age-irr-pairs-chartArea"/>
            <p:cNvGrpSpPr/>
            <p:nvPr/>
          </p:nvGrpSpPr>
          <p:grpSpPr>
            <a:xfrm>
              <a:off x="3429000" y="2286000"/>
              <a:ext cx="3143250" cy="2762250"/>
              <a:chOff x="3429000" y="2286000"/>
              <a:chExt cx="3143250" cy="276225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3429000" y="2286000"/>
                <a:ext cx="9525" cy="2762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62250">
                    <a:moveTo>
                      <a:pt x="0" y="0"/>
                    </a:moveTo>
                    <a:lnTo>
                      <a:pt x="0" y="276225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10" name="Group 10"/>
              <p:cNvGrpSpPr/>
              <p:nvPr/>
            </p:nvGrpSpPr>
            <p:grpSpPr>
              <a:xfrm>
                <a:off x="4714875" y="2600325"/>
                <a:ext cx="1857375" cy="1914525"/>
                <a:chOff x="4714875" y="2600325"/>
                <a:chExt cx="1857375" cy="1914525"/>
              </a:xfrm>
            </p:grpSpPr>
            <p:sp>
              <p:nvSpPr>
                <p:cNvPr id="7" name="Line 7"/>
                <p:cNvSpPr/>
                <p:nvPr/>
              </p:nvSpPr>
              <p:spPr>
                <a:xfrm>
                  <a:off x="4714875" y="2600325"/>
                  <a:ext cx="1800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225" h="9525">
                      <a:moveTo>
                        <a:pt x="0" y="0"/>
                      </a:moveTo>
                      <a:lnTo>
                        <a:pt x="1800225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" name="Line 8"/>
                <p:cNvSpPr/>
                <p:nvPr/>
              </p:nvSpPr>
              <p:spPr>
                <a:xfrm>
                  <a:off x="4872038" y="3552825"/>
                  <a:ext cx="17002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0212" h="9525">
                      <a:moveTo>
                        <a:pt x="0" y="0"/>
                      </a:moveTo>
                      <a:lnTo>
                        <a:pt x="1700212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9" name="Line 9"/>
                <p:cNvSpPr/>
                <p:nvPr/>
              </p:nvSpPr>
              <p:spPr>
                <a:xfrm>
                  <a:off x="4829175" y="4505325"/>
                  <a:ext cx="17430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3075" h="9525">
                      <a:moveTo>
                        <a:pt x="0" y="0"/>
                      </a:moveTo>
                      <a:lnTo>
                        <a:pt x="1743075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14" name="Group 14"/>
              <p:cNvGrpSpPr/>
              <p:nvPr/>
            </p:nvGrpSpPr>
            <p:grpSpPr>
              <a:xfrm>
                <a:off x="3643312" y="2981325"/>
                <a:ext cx="1714500" cy="1914525"/>
                <a:chOff x="3643312" y="2981325"/>
                <a:chExt cx="1714500" cy="1914525"/>
              </a:xfrm>
            </p:grpSpPr>
            <p:sp>
              <p:nvSpPr>
                <p:cNvPr id="11" name="Line 11"/>
                <p:cNvSpPr/>
                <p:nvPr/>
              </p:nvSpPr>
              <p:spPr>
                <a:xfrm>
                  <a:off x="3643312" y="2981325"/>
                  <a:ext cx="1600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200" h="9525">
                      <a:moveTo>
                        <a:pt x="0" y="0"/>
                      </a:moveTo>
                      <a:lnTo>
                        <a:pt x="1600200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2" name="Line 12"/>
                <p:cNvSpPr/>
                <p:nvPr/>
              </p:nvSpPr>
              <p:spPr>
                <a:xfrm>
                  <a:off x="3729038" y="3933825"/>
                  <a:ext cx="15573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338" h="9525">
                      <a:moveTo>
                        <a:pt x="0" y="0"/>
                      </a:moveTo>
                      <a:lnTo>
                        <a:pt x="1557338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Line 13"/>
                <p:cNvSpPr/>
                <p:nvPr/>
              </p:nvSpPr>
              <p:spPr>
                <a:xfrm>
                  <a:off x="3757612" y="4886325"/>
                  <a:ext cx="1600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200" h="9525">
                      <a:moveTo>
                        <a:pt x="0" y="0"/>
                      </a:moveTo>
                      <a:lnTo>
                        <a:pt x="1600200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5519738" y="2533650"/>
                <a:ext cx="247650" cy="2038350"/>
                <a:chOff x="5519738" y="2533650"/>
                <a:chExt cx="247650" cy="2038350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5519738" y="2533650"/>
                  <a:ext cx="133350" cy="1333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6" name="Ellipse 16"/>
                <p:cNvSpPr/>
                <p:nvPr/>
              </p:nvSpPr>
              <p:spPr>
                <a:xfrm>
                  <a:off x="5634038" y="3486150"/>
                  <a:ext cx="133350" cy="1333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7" name="Ellipse 17"/>
                <p:cNvSpPr/>
                <p:nvPr/>
              </p:nvSpPr>
              <p:spPr>
                <a:xfrm>
                  <a:off x="5605462" y="4438650"/>
                  <a:ext cx="133350" cy="1333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4357688" y="2924175"/>
                <a:ext cx="228600" cy="2019300"/>
                <a:chOff x="4357688" y="2924175"/>
                <a:chExt cx="228600" cy="2019300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4357688" y="2924175"/>
                  <a:ext cx="114300" cy="114300"/>
                </a:xfrm>
                <a:prstGeom prst="rect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4429125" y="3876675"/>
                  <a:ext cx="114300" cy="114300"/>
                </a:xfrm>
                <a:prstGeom prst="rect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1" name="Rectangle 21"/>
                <p:cNvSpPr/>
                <p:nvPr/>
              </p:nvSpPr>
              <p:spPr>
                <a:xfrm>
                  <a:off x="4471988" y="4829175"/>
                  <a:ext cx="114300" cy="114300"/>
                </a:xfrm>
                <a:prstGeom prst="rect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563118" y="2482850"/>
              <a:ext cx="1675542" cy="2227707"/>
              <a:chOff x="563118" y="2482850"/>
              <a:chExt cx="1675542" cy="22277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63118" y="2482850"/>
                <a:ext cx="14728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M0　规模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18" y="3435350"/>
                <a:ext cx="17838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M1　＋区位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63118" y="4387850"/>
                <a:ext cx="24057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M2　＋扩展背景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245276" y="5216525"/>
              <a:ext cx="4653699" cy="264033"/>
              <a:chOff x="3245276" y="5216525"/>
              <a:chExt cx="4653699" cy="26403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3141787" y="521652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1.00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70537" y="521652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1.10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999287" y="521652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1.20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28037" y="5216525"/>
                <a:ext cx="5744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1.30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089017" y="2073275"/>
              <a:ext cx="1860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圆点：基础问题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89017" y="5454650"/>
              <a:ext cx="1860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方点：配套诉求</a:t>
              </a:r>
            </a:p>
          </p:txBody>
        </p:sp>
      </p:grpSp>
      <p:grpSp>
        <p:nvGrpSpPr>
          <p:cNvPr id="43" name="joint-difference"/>
          <p:cNvGrpSpPr/>
          <p:nvPr/>
        </p:nvGrpSpPr>
        <p:grpSpPr>
          <a:xfrm>
            <a:off x="8554212" y="1768475"/>
            <a:ext cx="2489754" cy="3673983"/>
            <a:chOff x="8554212" y="1768475"/>
            <a:chExt cx="2489754" cy="3673983"/>
          </a:xfrm>
        </p:grpSpPr>
        <p:sp>
          <p:nvSpPr>
            <p:cNvPr id="36" name="TextBox 36"/>
            <p:cNvSpPr txBox="1"/>
            <p:nvPr/>
          </p:nvSpPr>
          <p:spPr>
            <a:xfrm>
              <a:off x="8564118" y="1768475"/>
              <a:ext cx="2349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M2两类IRR之比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4212" y="2298700"/>
              <a:ext cx="18091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1.074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4118" y="2968625"/>
              <a:ext cx="3387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95%区间：1.011—1.141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2594" y="3397250"/>
              <a:ext cx="15793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q＝0.020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64118" y="4235450"/>
              <a:ext cx="20797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基础：+15.7%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4118" y="4654550"/>
              <a:ext cx="190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配套：+7.7%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5642" y="5178425"/>
              <a:ext cx="3386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两组效应q分别＜0.001、0.008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63118" y="5854700"/>
            <a:ext cx="6862524" cy="322707"/>
            <a:chOff x="563118" y="5854700"/>
            <a:chExt cx="6862524" cy="322707"/>
          </a:xfrm>
        </p:grpSpPr>
        <p:sp>
          <p:nvSpPr>
            <p:cNvPr id="44" name="TextBox 44"/>
            <p:cNvSpPr txBox="1"/>
            <p:nvPr/>
          </p:nvSpPr>
          <p:spPr>
            <a:xfrm>
              <a:off x="563118" y="5854700"/>
              <a:ext cx="96675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主样本支持基础问题的房龄梯度更强；IRR比不是两类诉求总量之比。</a:t>
              </a:r>
            </a:p>
          </p:txBody>
        </p:sp>
      </p:grpSp>
      <p:sp>
        <p:nvSpPr>
          <p:cNvPr id="46" name="source"/>
          <p:cNvSpPr txBox="1"/>
          <p:nvPr/>
        </p:nvSpPr>
        <p:spPr>
          <a:xfrm>
            <a:off x="565404" y="6419850"/>
            <a:ext cx="74534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表10；n＝6,244，原始计数，3公里联合Conley，BH校正</a:t>
            </a:r>
          </a:p>
        </p:txBody>
      </p:sp>
      <p:sp>
        <p:nvSpPr>
          <p:cNvPr id="47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5518404" cy="851154"/>
            <a:chOff x="558546" y="377825"/>
            <a:chExt cx="5518404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物业记录的条件调节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77857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物业记录的调节主要体现在配套诉求</a:t>
              </a:r>
            </a:p>
          </p:txBody>
        </p:sp>
      </p:grpSp>
      <p:grpSp>
        <p:nvGrpSpPr>
          <p:cNvPr id="32" name="property-conditional"/>
          <p:cNvGrpSpPr/>
          <p:nvPr/>
        </p:nvGrpSpPr>
        <p:grpSpPr>
          <a:xfrm>
            <a:off x="563118" y="1749425"/>
            <a:ext cx="9988406" cy="3045333"/>
            <a:chOff x="563118" y="1749425"/>
            <a:chExt cx="9988406" cy="3045333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749425"/>
              <a:ext cx="6648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挂牌价中位数处：房龄增加10年的预期计数变化</a:t>
              </a:r>
            </a:p>
          </p:txBody>
        </p:sp>
        <p:grpSp>
          <p:nvGrpSpPr>
            <p:cNvPr id="19" name="property-conditional-chartArea"/>
            <p:cNvGrpSpPr/>
            <p:nvPr/>
          </p:nvGrpSpPr>
          <p:grpSpPr>
            <a:xfrm>
              <a:off x="2575560" y="2238375"/>
              <a:ext cx="6187440" cy="2095500"/>
              <a:chOff x="2575560" y="2238375"/>
              <a:chExt cx="6187440" cy="209550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4572000" y="2238375"/>
                <a:ext cx="9525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0">
                    <a:moveTo>
                      <a:pt x="0" y="0"/>
                    </a:moveTo>
                    <a:lnTo>
                      <a:pt x="0" y="2095500"/>
                    </a:lnTo>
                  </a:path>
                </a:pathLst>
              </a:custGeom>
              <a:noFill/>
              <a:ln w="9525">
                <a:solidFill>
                  <a:srgbClr val="B8B8B8"/>
                </a:solidFill>
                <a:custDash>
                  <a:ds d="500000" sp="500000"/>
                </a:custDash>
              </a:ln>
            </p:spPr>
            <p:txBody>
              <a:bodyPr/>
              <a:p/>
            </p:txBody>
          </p:sp>
          <p:grpSp>
            <p:nvGrpSpPr>
              <p:cNvPr id="9" name="Group 9"/>
              <p:cNvGrpSpPr/>
              <p:nvPr/>
            </p:nvGrpSpPr>
            <p:grpSpPr>
              <a:xfrm>
                <a:off x="5821680" y="2619375"/>
                <a:ext cx="2941320" cy="1152525"/>
                <a:chOff x="5821680" y="2619375"/>
                <a:chExt cx="2941320" cy="1152525"/>
              </a:xfrm>
            </p:grpSpPr>
            <p:sp>
              <p:nvSpPr>
                <p:cNvPr id="7" name="Line 7"/>
                <p:cNvSpPr/>
                <p:nvPr/>
              </p:nvSpPr>
              <p:spPr>
                <a:xfrm>
                  <a:off x="5913120" y="2619375"/>
                  <a:ext cx="284988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9880" h="9525">
                      <a:moveTo>
                        <a:pt x="0" y="0"/>
                      </a:moveTo>
                      <a:lnTo>
                        <a:pt x="2849880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" name="Line 8"/>
                <p:cNvSpPr/>
                <p:nvPr/>
              </p:nvSpPr>
              <p:spPr>
                <a:xfrm>
                  <a:off x="5821680" y="3762375"/>
                  <a:ext cx="2133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600" h="9525">
                      <a:moveTo>
                        <a:pt x="0" y="0"/>
                      </a:moveTo>
                      <a:lnTo>
                        <a:pt x="2133600" y="0"/>
                      </a:lnTo>
                    </a:path>
                  </a:pathLst>
                </a:custGeom>
                <a:noFill/>
                <a:ln w="38100">
                  <a:solidFill>
                    <a:srgbClr val="7B2635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575560" y="3048000"/>
                <a:ext cx="4785360" cy="1152525"/>
                <a:chOff x="2575560" y="3048000"/>
                <a:chExt cx="4785360" cy="1152525"/>
              </a:xfrm>
            </p:grpSpPr>
            <p:sp>
              <p:nvSpPr>
                <p:cNvPr id="10" name="Line 10"/>
                <p:cNvSpPr/>
                <p:nvPr/>
              </p:nvSpPr>
              <p:spPr>
                <a:xfrm>
                  <a:off x="2575560" y="3048000"/>
                  <a:ext cx="254508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5080" h="9525">
                      <a:moveTo>
                        <a:pt x="0" y="0"/>
                      </a:moveTo>
                      <a:lnTo>
                        <a:pt x="2545080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1" name="Line 11"/>
                <p:cNvSpPr/>
                <p:nvPr/>
              </p:nvSpPr>
              <p:spPr>
                <a:xfrm>
                  <a:off x="5349240" y="4191000"/>
                  <a:ext cx="201168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680" h="9525">
                      <a:moveTo>
                        <a:pt x="0" y="0"/>
                      </a:moveTo>
                      <a:lnTo>
                        <a:pt x="2011680" y="0"/>
                      </a:lnTo>
                    </a:path>
                  </a:pathLst>
                </a:custGeom>
                <a:noFill/>
                <a:ln w="38100">
                  <a:solidFill>
                    <a:srgbClr val="8F8F8F"/>
                  </a:solidFill>
                </a:ln>
              </p:spPr>
              <p:txBody>
                <a:bodyPr/>
                <a:p/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6791325" y="2552700"/>
                <a:ext cx="560070" cy="1276350"/>
                <a:chOff x="6791325" y="2552700"/>
                <a:chExt cx="560070" cy="127635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7218045" y="2552700"/>
                  <a:ext cx="133350" cy="1333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4" name="Ellipse 14"/>
                <p:cNvSpPr/>
                <p:nvPr/>
              </p:nvSpPr>
              <p:spPr>
                <a:xfrm>
                  <a:off x="6791325" y="3695700"/>
                  <a:ext cx="133350" cy="133350"/>
                </a:xfrm>
                <a:prstGeom prst="ellipse">
                  <a:avLst/>
                </a:prstGeom>
                <a:solidFill>
                  <a:srgbClr val="7B2635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3722370" y="2990850"/>
                <a:ext cx="2659380" cy="1257300"/>
                <a:chOff x="3722370" y="2990850"/>
                <a:chExt cx="2659380" cy="125730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3722370" y="2990850"/>
                  <a:ext cx="114300" cy="114300"/>
                </a:xfrm>
                <a:prstGeom prst="rect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17" name="Rectangle 17"/>
                <p:cNvSpPr/>
                <p:nvPr/>
              </p:nvSpPr>
              <p:spPr>
                <a:xfrm>
                  <a:off x="6267450" y="4133850"/>
                  <a:ext cx="114300" cy="114300"/>
                </a:xfrm>
                <a:prstGeom prst="rect">
                  <a:avLst/>
                </a:prstGeom>
                <a:solidFill>
                  <a:srgbClr val="8F8F8F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</p:grpSp>
        <p:grpSp>
          <p:nvGrpSpPr>
            <p:cNvPr id="26" name="Group 26"/>
            <p:cNvGrpSpPr/>
            <p:nvPr/>
          </p:nvGrpSpPr>
          <p:grpSpPr>
            <a:xfrm>
              <a:off x="563118" y="2482850"/>
              <a:ext cx="9196436" cy="1894332"/>
              <a:chOff x="563118" y="2482850"/>
              <a:chExt cx="9196436" cy="1894332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563118" y="256857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无物业记录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63118" y="371157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有物业记录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983218" y="2482850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+17.8%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983218" y="2911475"/>
                <a:ext cx="9739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−5.2%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83218" y="3625850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+15.0%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83218" y="4054475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+11.5%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349408" y="4530725"/>
              <a:ext cx="8202116" cy="264033"/>
              <a:chOff x="2349408" y="4530725"/>
              <a:chExt cx="8202116" cy="264033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2192372" y="4530725"/>
                <a:ext cx="9492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−12.5%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48522" y="4530725"/>
                <a:ext cx="4469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0%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87764" y="4530725"/>
                <a:ext cx="5884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25%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886666" y="4530725"/>
                <a:ext cx="8006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ctr"/>
                <a:r>
                  <a:rPr lang="zh-CN" sz="1350" dirty="0">
                    <a:solidFill>
                      <a:srgbClr val="737373"/>
                    </a:solidFill>
                    <a:latin typeface="+mn-lt"/>
                    <a:ea typeface="+mn-ea"/>
                    <a:cs typeface="+mn-cs"/>
                  </a:rPr>
                  <a:t>37.5%</a:t>
                </a:r>
              </a:p>
            </p:txBody>
          </p:sp>
        </p:grpSp>
      </p:grpSp>
      <p:grpSp>
        <p:nvGrpSpPr>
          <p:cNvPr id="34" name="interaction-tests"/>
          <p:cNvGrpSpPr/>
          <p:nvPr/>
        </p:nvGrpSpPr>
        <p:grpSpPr>
          <a:xfrm>
            <a:off x="563118" y="5235575"/>
            <a:ext cx="6435541" cy="322707"/>
            <a:chOff x="563118" y="5235575"/>
            <a:chExt cx="6435541" cy="322707"/>
          </a:xfrm>
        </p:grpSpPr>
        <p:sp>
          <p:nvSpPr>
            <p:cNvPr id="33" name="TextBox 33"/>
            <p:cNvSpPr txBox="1"/>
            <p:nvPr/>
          </p:nvSpPr>
          <p:spPr>
            <a:xfrm>
              <a:off x="563118" y="5235575"/>
              <a:ext cx="90697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交互检验q：基础 0.701　｜　配套 0.013　｜　两类交互差 0.013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63118" y="5854700"/>
            <a:ext cx="5717773" cy="322707"/>
            <a:chOff x="563118" y="5854700"/>
            <a:chExt cx="5717773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563118" y="5854700"/>
              <a:ext cx="8064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圆点为基础、方点为配套；“无记录”不等于没有物业服务。</a:t>
              </a:r>
            </a:p>
          </p:txBody>
        </p:sp>
      </p:grpSp>
      <p:sp>
        <p:nvSpPr>
          <p:cNvPr id="37" name="source"/>
          <p:cNvSpPr txBox="1"/>
          <p:nvPr/>
        </p:nvSpPr>
        <p:spPr>
          <a:xfrm>
            <a:off x="565404" y="6419850"/>
            <a:ext cx="81251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表11—12；M3，n＝6,244；情景区间未多重校正，交互q已校正</a:t>
            </a:r>
          </a:p>
        </p:txBody>
      </p:sp>
      <p:sp>
        <p:nvSpPr>
          <p:cNvPr id="38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3801999" cy="851154"/>
            <a:chOff x="558546" y="377825"/>
            <a:chExt cx="3801999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挂牌房价的条件调节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538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房价调节未形成稳定支持</a:t>
              </a:r>
            </a:p>
          </p:txBody>
        </p:sp>
      </p:grpSp>
      <p:grpSp>
        <p:nvGrpSpPr>
          <p:cNvPr id="12" name="price-coefficients"/>
          <p:cNvGrpSpPr/>
          <p:nvPr/>
        </p:nvGrpSpPr>
        <p:grpSpPr>
          <a:xfrm>
            <a:off x="553212" y="1749425"/>
            <a:ext cx="2019062" cy="3656457"/>
            <a:chOff x="553212" y="1749425"/>
            <a:chExt cx="2019062" cy="3656457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49425"/>
              <a:ext cx="2874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房龄×挂牌价对数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463800"/>
              <a:ext cx="1327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基础问题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3212" y="2841625"/>
              <a:ext cx="2186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0.0649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473450"/>
              <a:ext cx="1345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q＝0.286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118" y="4083050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居住配套诉求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3212" y="4451350"/>
              <a:ext cx="2186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0.0655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118" y="5083175"/>
              <a:ext cx="1345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q＝0.286</a:t>
              </a:r>
            </a:p>
          </p:txBody>
        </p:sp>
      </p:grpSp>
      <p:grpSp>
        <p:nvGrpSpPr>
          <p:cNvPr id="20" name="price-tests"/>
          <p:cNvGrpSpPr/>
          <p:nvPr/>
        </p:nvGrpSpPr>
        <p:grpSpPr>
          <a:xfrm>
            <a:off x="6467094" y="1749425"/>
            <a:ext cx="3217194" cy="3702558"/>
            <a:chOff x="6467094" y="1749425"/>
            <a:chExt cx="3217194" cy="3702558"/>
          </a:xfrm>
        </p:grpSpPr>
        <p:sp>
          <p:nvSpPr>
            <p:cNvPr id="13" name="TextBox 13"/>
            <p:cNvSpPr txBox="1"/>
            <p:nvPr/>
          </p:nvSpPr>
          <p:spPr>
            <a:xfrm>
              <a:off x="6467094" y="1749425"/>
              <a:ext cx="26603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联合与组间检验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8618" y="2492375"/>
              <a:ext cx="3289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两组交互联合Wald检验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7094" y="2901950"/>
              <a:ext cx="15793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q＝0.361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8618" y="3625850"/>
              <a:ext cx="226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两类交互差检验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7094" y="4035425"/>
              <a:ext cx="15793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q＝0.991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4749800"/>
              <a:ext cx="456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P25 / P50 / P75为同一模型情景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142" y="5187950"/>
              <a:ext cx="3132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不是对三个价格组分别拟合</a:t>
              </a:r>
            </a:p>
          </p:txBody>
        </p:sp>
      </p:grpSp>
      <p:grpSp>
        <p:nvGrpSpPr>
          <p:cNvPr id="22" name="takeaway"/>
          <p:cNvGrpSpPr/>
          <p:nvPr/>
        </p:nvGrpSpPr>
        <p:grpSpPr>
          <a:xfrm>
            <a:off x="563118" y="5854700"/>
            <a:ext cx="7124700" cy="322707"/>
            <a:chOff x="563118" y="5854700"/>
            <a:chExt cx="7124700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5854700"/>
              <a:ext cx="10034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正向点估计不等于调节成立；本结果也不检验房价本身是否与诉求有关。</a:t>
              </a:r>
            </a:p>
          </p:txBody>
        </p:sp>
      </p:grpSp>
      <p:sp>
        <p:nvSpPr>
          <p:cNvPr id="23" name="source"/>
          <p:cNvSpPr txBox="1"/>
          <p:nvPr/>
        </p:nvSpPr>
        <p:spPr>
          <a:xfrm>
            <a:off x="565404" y="6419850"/>
            <a:ext cx="7897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表12、第五章第3节；M3，原始计数，3公里Conley，BH校正</a:t>
            </a:r>
          </a:p>
        </p:txBody>
      </p:sp>
      <p:sp>
        <p:nvSpPr>
          <p:cNvPr id="24" name="number"/>
          <p:cNvSpPr txBox="1"/>
          <p:nvPr/>
        </p:nvSpPr>
        <p:spPr>
          <a:xfrm>
            <a:off x="10792254" y="6419850"/>
            <a:ext cx="8343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B9 / 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326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稳健性检验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计数、样本与分类口径的敏感性</a:t>
              </a:r>
            </a:p>
          </p:txBody>
        </p:sp>
      </p:grpSp>
      <p:grpSp>
        <p:nvGrpSpPr>
          <p:cNvPr id="44" name="sensitivity-table"/>
          <p:cNvGrpSpPr/>
          <p:nvPr/>
        </p:nvGrpSpPr>
        <p:grpSpPr>
          <a:xfrm>
            <a:off x="563118" y="1816100"/>
            <a:ext cx="11057382" cy="3056382"/>
            <a:chOff x="563118" y="1816100"/>
            <a:chExt cx="11057382" cy="3056382"/>
          </a:xfrm>
        </p:grpSpPr>
        <p:grpSp>
          <p:nvGrpSpPr>
            <p:cNvPr id="43" name="Group 43"/>
            <p:cNvGrpSpPr/>
            <p:nvPr/>
          </p:nvGrpSpPr>
          <p:grpSpPr>
            <a:xfrm>
              <a:off x="563118" y="1816100"/>
              <a:ext cx="11057382" cy="3056382"/>
              <a:chOff x="563118" y="1816100"/>
              <a:chExt cx="11057382" cy="3056382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63118" y="1816100"/>
                <a:ext cx="10077551" cy="322707"/>
                <a:chOff x="563118" y="1816100"/>
                <a:chExt cx="10077551" cy="322707"/>
              </a:xfrm>
            </p:grpSpPr>
            <p:sp>
              <p:nvSpPr>
                <p:cNvPr id="5" name="TextBox 5"/>
                <p:cNvSpPr txBox="1"/>
                <p:nvPr/>
              </p:nvSpPr>
              <p:spPr>
                <a:xfrm>
                  <a:off x="563118" y="1816100"/>
                  <a:ext cx="705414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7B2635"/>
                      </a:solidFill>
                      <a:latin typeface="+mn-lt"/>
                      <a:ea typeface="+mn-ea"/>
                      <a:cs typeface="+mn-cs"/>
                    </a:rPr>
                    <a:t>口径</a:t>
                  </a:r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2849118" y="1816100"/>
                  <a:ext cx="64947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7B2635"/>
                      </a:solidFill>
                      <a:latin typeface="+mn-lt"/>
                      <a:ea typeface="+mn-ea"/>
                      <a:cs typeface="+mn-cs"/>
                    </a:rPr>
                    <a:t>AOI</a:t>
                  </a:r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4373118" y="1816100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7B2635"/>
                      </a:solidFill>
                      <a:latin typeface="+mn-lt"/>
                      <a:ea typeface="+mn-ea"/>
                      <a:cs typeface="+mn-cs"/>
                    </a:rPr>
                    <a:t>基础变化</a:t>
                  </a:r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087618" y="1816100"/>
                  <a:ext cx="132735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7B2635"/>
                      </a:solidFill>
                      <a:latin typeface="+mn-lt"/>
                      <a:ea typeface="+mn-ea"/>
                      <a:cs typeface="+mn-cs"/>
                    </a:rPr>
                    <a:t>配套变化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802118" y="1816100"/>
                  <a:ext cx="118934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7B2635"/>
                      </a:solidFill>
                      <a:latin typeface="+mn-lt"/>
                      <a:ea typeface="+mn-ea"/>
                      <a:cs typeface="+mn-cs"/>
                    </a:rPr>
                    <a:t>组间差q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9611868" y="1816100"/>
                  <a:ext cx="150032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 horzOverflow="overflow" vertOverflow="overflow">
                  <a:no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7B2635"/>
                      </a:solidFill>
                      <a:latin typeface="+mn-lt"/>
                      <a:ea typeface="+mn-ea"/>
                      <a:cs typeface="+mn-cs"/>
                    </a:rPr>
                    <a:t>配套物业q</a:t>
                  </a:r>
                </a:p>
              </p:txBody>
            </p:sp>
          </p:grpSp>
          <p:sp>
            <p:nvSpPr>
              <p:cNvPr id="12" name="Line 12"/>
              <p:cNvSpPr/>
              <p:nvPr/>
            </p:nvSpPr>
            <p:spPr>
              <a:xfrm>
                <a:off x="571500" y="22288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63118" y="2454275"/>
                <a:ext cx="10163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主分析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49118" y="24542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6,244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73118" y="2454275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+15.7%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087618" y="2454275"/>
                <a:ext cx="9739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+7.7%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02118" y="24542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611868" y="24542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0.013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3118" y="2978150"/>
                <a:ext cx="10163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日去重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849118" y="29781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6,244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373118" y="2978150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+16.2%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87618" y="2978150"/>
                <a:ext cx="9739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+9.7%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02118" y="29781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0.025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611868" y="297815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0.001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18" y="3502025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年代完整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849118" y="350202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6,232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73118" y="3502025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+15.6%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087618" y="3502025"/>
                <a:ext cx="9739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+7.6%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02118" y="350202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0.019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611868" y="350202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0.013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3118" y="4025900"/>
                <a:ext cx="1327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名称核验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49118" y="40259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4,238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373118" y="4025900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+12.8%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087618" y="4025900"/>
                <a:ext cx="9739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+6.7%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802118" y="40259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b="1" dirty="0">
                    <a:solidFill>
                      <a:srgbClr val="7B2635"/>
                    </a:solidFill>
                    <a:latin typeface="+mn-lt"/>
                    <a:ea typeface="+mn-ea"/>
                    <a:cs typeface="+mn-cs"/>
                  </a:rPr>
                  <a:t>0.158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11868" y="4025900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0.014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63118" y="4549775"/>
                <a:ext cx="1638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配套含路灯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849118" y="45497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6,244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73118" y="4549775"/>
                <a:ext cx="11468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+15.7%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087618" y="4549775"/>
                <a:ext cx="9739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+8.8%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802118" y="45497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0.040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611868" y="4549775"/>
                <a:ext cx="8617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 horzOverflow="overflow" vertOverflow="overflow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0.008</a:t>
                </a:r>
              </a:p>
            </p:txBody>
          </p:sp>
        </p:grpSp>
      </p:grpSp>
      <p:grpSp>
        <p:nvGrpSpPr>
          <p:cNvPr id="46" name="interpretation"/>
          <p:cNvGrpSpPr/>
          <p:nvPr/>
        </p:nvGrpSpPr>
        <p:grpSpPr>
          <a:xfrm>
            <a:off x="563118" y="5292725"/>
            <a:ext cx="6902577" cy="322707"/>
            <a:chOff x="563118" y="5292725"/>
            <a:chExt cx="6902577" cy="322707"/>
          </a:xfrm>
        </p:grpSpPr>
        <p:sp>
          <p:nvSpPr>
            <p:cNvPr id="45" name="TextBox 45"/>
            <p:cNvSpPr txBox="1"/>
            <p:nvPr/>
          </p:nvSpPr>
          <p:spPr>
            <a:xfrm>
              <a:off x="563118" y="5292725"/>
              <a:ext cx="97236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两类房龄关联均保持正向；物业对配套组的调节在各口径下得到支持。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63118" y="5854700"/>
            <a:ext cx="7001511" cy="322707"/>
            <a:chOff x="563118" y="5854700"/>
            <a:chExt cx="7001511" cy="322707"/>
          </a:xfrm>
        </p:grpSpPr>
        <p:sp>
          <p:nvSpPr>
            <p:cNvPr id="47" name="TextBox 47"/>
            <p:cNvSpPr txBox="1"/>
            <p:nvPr/>
          </p:nvSpPr>
          <p:spPr>
            <a:xfrm>
              <a:off x="563118" y="5854700"/>
              <a:ext cx="98621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类别差异在名称核验样本中未达5%标准，不能称为所有样本下均稳健。</a:t>
              </a:r>
            </a:p>
          </p:txBody>
        </p:sp>
      </p:grpSp>
      <p:sp>
        <p:nvSpPr>
          <p:cNvPr id="49" name="source"/>
          <p:cNvSpPr txBox="1"/>
          <p:nvPr/>
        </p:nvSpPr>
        <p:spPr>
          <a:xfrm>
            <a:off x="565404" y="6419850"/>
            <a:ext cx="93284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表13；变化与组间差取M2每10年效应，物业交互取M3，各轨道独立BH校正</a:t>
            </a:r>
          </a:p>
        </p:txBody>
      </p:sp>
      <p:sp>
        <p:nvSpPr>
          <p:cNvPr id="50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B10 / 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488561" cy="851154"/>
            <a:chOff x="558546" y="377825"/>
            <a:chExt cx="4488561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334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模型与空间推断诊断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343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数值估计与空间推断的稳定性</a:t>
              </a:r>
            </a:p>
          </p:txBody>
        </p:sp>
      </p:grpSp>
      <p:grpSp>
        <p:nvGrpSpPr>
          <p:cNvPr id="7" name="model-count"/>
          <p:cNvGrpSpPr/>
          <p:nvPr/>
        </p:nvGrpSpPr>
        <p:grpSpPr>
          <a:xfrm>
            <a:off x="553212" y="1822450"/>
            <a:ext cx="1518678" cy="1040257"/>
            <a:chOff x="553212" y="1822450"/>
            <a:chExt cx="1518678" cy="1040257"/>
          </a:xfrm>
        </p:grpSpPr>
        <p:sp>
          <p:nvSpPr>
            <p:cNvPr id="5" name="TextBox 5"/>
            <p:cNvSpPr txBox="1"/>
            <p:nvPr/>
          </p:nvSpPr>
          <p:spPr>
            <a:xfrm>
              <a:off x="553212" y="1822450"/>
              <a:ext cx="218614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540000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联合模型成功</a:t>
              </a:r>
            </a:p>
          </p:txBody>
        </p:sp>
      </p:grpSp>
      <p:grpSp>
        <p:nvGrpSpPr>
          <p:cNvPr id="10" name="covariance-count"/>
          <p:cNvGrpSpPr/>
          <p:nvPr/>
        </p:nvGrpSpPr>
        <p:grpSpPr>
          <a:xfrm>
            <a:off x="4267962" y="1822450"/>
            <a:ext cx="2025777" cy="1040257"/>
            <a:chOff x="4267962" y="1822450"/>
            <a:chExt cx="2025777" cy="1040257"/>
          </a:xfrm>
        </p:grpSpPr>
        <p:sp>
          <p:nvSpPr>
            <p:cNvPr id="8" name="TextBox 8"/>
            <p:cNvSpPr txBox="1"/>
            <p:nvPr/>
          </p:nvSpPr>
          <p:spPr>
            <a:xfrm>
              <a:off x="4267962" y="1822450"/>
              <a:ext cx="218614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7868" y="2540000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空间协方差记录完成</a:t>
              </a:r>
            </a:p>
          </p:txBody>
        </p:sp>
      </p:grpSp>
      <p:grpSp>
        <p:nvGrpSpPr>
          <p:cNvPr id="13" name="bandwidths"/>
          <p:cNvGrpSpPr/>
          <p:nvPr/>
        </p:nvGrpSpPr>
        <p:grpSpPr>
          <a:xfrm>
            <a:off x="8077962" y="1822450"/>
            <a:ext cx="1840958" cy="1040257"/>
            <a:chOff x="8077962" y="1822450"/>
            <a:chExt cx="1840958" cy="1040257"/>
          </a:xfrm>
        </p:grpSpPr>
        <p:sp>
          <p:nvSpPr>
            <p:cNvPr id="11" name="TextBox 11"/>
            <p:cNvSpPr txBox="1"/>
            <p:nvPr/>
          </p:nvSpPr>
          <p:spPr>
            <a:xfrm>
              <a:off x="8077962" y="1822450"/>
              <a:ext cx="263734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en-US" sz="360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1—5 km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7868" y="2540000"/>
              <a:ext cx="1949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主要判断一致</a:t>
              </a:r>
            </a:p>
          </p:txBody>
        </p:sp>
      </p:grpSp>
      <p:grpSp>
        <p:nvGrpSpPr>
          <p:cNvPr id="15" name="numerical-stability"/>
          <p:cNvGrpSpPr/>
          <p:nvPr/>
        </p:nvGrpSpPr>
        <p:grpSpPr>
          <a:xfrm>
            <a:off x="561594" y="3663950"/>
            <a:ext cx="5597705" cy="381381"/>
            <a:chOff x="561594" y="3663950"/>
            <a:chExt cx="5597705" cy="381381"/>
          </a:xfrm>
        </p:grpSpPr>
        <p:sp>
          <p:nvSpPr>
            <p:cNvPr id="14" name="TextBox 14"/>
            <p:cNvSpPr txBox="1"/>
            <p:nvPr/>
          </p:nvSpPr>
          <p:spPr>
            <a:xfrm>
              <a:off x="561594" y="3663950"/>
              <a:ext cx="78967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无负特征值；最大PSD相对修复量约2.66E−15</a:t>
              </a:r>
            </a:p>
          </p:txBody>
        </p:sp>
      </p:grpSp>
      <p:grpSp>
        <p:nvGrpSpPr>
          <p:cNvPr id="18" name="unread-results"/>
          <p:cNvGrpSpPr/>
          <p:nvPr/>
        </p:nvGrpSpPr>
        <p:grpSpPr>
          <a:xfrm>
            <a:off x="563118" y="4597400"/>
            <a:ext cx="5912475" cy="789432"/>
            <a:chOff x="563118" y="4597400"/>
            <a:chExt cx="5912475" cy="789432"/>
          </a:xfrm>
        </p:grpSpPr>
        <p:sp>
          <p:nvSpPr>
            <p:cNvPr id="16" name="TextBox 16"/>
            <p:cNvSpPr txBox="1"/>
            <p:nvPr/>
          </p:nvSpPr>
          <p:spPr>
            <a:xfrm>
              <a:off x="563118" y="4597400"/>
              <a:ext cx="2882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尚未完整提供的结果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118" y="5064125"/>
              <a:ext cx="8337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年代分组模型 · 调整后预测曲线 · 残差Moran · 预测支持核查</a:t>
              </a:r>
            </a:p>
          </p:txBody>
        </p:sp>
      </p:grpSp>
      <p:grpSp>
        <p:nvGrpSpPr>
          <p:cNvPr id="20" name="takeaway"/>
          <p:cNvGrpSpPr/>
          <p:nvPr/>
        </p:nvGrpSpPr>
        <p:grpSpPr>
          <a:xfrm>
            <a:off x="563118" y="5854700"/>
            <a:ext cx="6236208" cy="322707"/>
            <a:chOff x="563118" y="5854700"/>
            <a:chExt cx="6236208" cy="322707"/>
          </a:xfrm>
        </p:grpSpPr>
        <p:sp>
          <p:nvSpPr>
            <p:cNvPr id="19" name="TextBox 19"/>
            <p:cNvSpPr txBox="1"/>
            <p:nvPr/>
          </p:nvSpPr>
          <p:spPr>
            <a:xfrm>
              <a:off x="563118" y="5854700"/>
              <a:ext cx="8790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估计与协方差稳定，不等于条件均值正确或残差已无空间相关。</a:t>
              </a:r>
            </a:p>
          </p:txBody>
        </p:sp>
      </p:grpSp>
      <p:sp>
        <p:nvSpPr>
          <p:cNvPr id="21" name="source"/>
          <p:cNvSpPr txBox="1"/>
          <p:nvPr/>
        </p:nvSpPr>
        <p:spPr>
          <a:xfrm>
            <a:off x="565404" y="6419850"/>
            <a:ext cx="63292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第六章、附录；Conley带宽为1、2、3、5公里</a:t>
            </a:r>
          </a:p>
        </p:txBody>
      </p:sp>
      <p:sp>
        <p:nvSpPr>
          <p:cNvPr id="22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B11 / 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8546" y="377825"/>
            <a:ext cx="4831842" cy="851154"/>
            <a:chOff x="558546" y="377825"/>
            <a:chExt cx="4831842" cy="851154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377825"/>
              <a:ext cx="207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350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探索二 / 主要结论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730250"/>
              <a:ext cx="6824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房龄关联的类别差异与条件边界</a:t>
              </a:r>
            </a:p>
          </p:txBody>
        </p:sp>
      </p:grpSp>
      <p:grpSp>
        <p:nvGrpSpPr>
          <p:cNvPr id="8" name="finding-age"/>
          <p:cNvGrpSpPr/>
          <p:nvPr/>
        </p:nvGrpSpPr>
        <p:grpSpPr>
          <a:xfrm>
            <a:off x="561594" y="1768475"/>
            <a:ext cx="2905887" cy="1275207"/>
            <a:chOff x="561594" y="1768475"/>
            <a:chExt cx="2905887" cy="1275207"/>
          </a:xfrm>
        </p:grpSpPr>
        <p:sp>
          <p:nvSpPr>
            <p:cNvPr id="5" name="TextBox 5"/>
            <p:cNvSpPr txBox="1"/>
            <p:nvPr/>
          </p:nvSpPr>
          <p:spPr>
            <a:xfrm>
              <a:off x="561594" y="1768475"/>
              <a:ext cx="38041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01　基础问题梯度更强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118" y="2301875"/>
              <a:ext cx="37998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每10年：+15.7% vs +7.7%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2720975"/>
              <a:ext cx="4126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主样本与多数敏感性分析支持</a:t>
              </a:r>
            </a:p>
          </p:txBody>
        </p:sp>
      </p:grpSp>
      <p:grpSp>
        <p:nvGrpSpPr>
          <p:cNvPr id="12" name="finding-property"/>
          <p:cNvGrpSpPr/>
          <p:nvPr/>
        </p:nvGrpSpPr>
        <p:grpSpPr>
          <a:xfrm>
            <a:off x="6467094" y="1768475"/>
            <a:ext cx="3199426" cy="1275207"/>
            <a:chOff x="6467094" y="1768475"/>
            <a:chExt cx="3199426" cy="1275207"/>
          </a:xfrm>
        </p:grpSpPr>
        <p:sp>
          <p:nvSpPr>
            <p:cNvPr id="9" name="TextBox 9"/>
            <p:cNvSpPr txBox="1"/>
            <p:nvPr/>
          </p:nvSpPr>
          <p:spPr>
            <a:xfrm>
              <a:off x="6467094" y="1768475"/>
              <a:ext cx="45391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02　物业差异主要在配套组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8618" y="2301875"/>
              <a:ext cx="4437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有记录对应更强的配套房龄梯度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8618" y="2720975"/>
              <a:ext cx="4126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未证实显著压低基础问题梯度</a:t>
              </a:r>
            </a:p>
          </p:txBody>
        </p:sp>
      </p:grpSp>
      <p:grpSp>
        <p:nvGrpSpPr>
          <p:cNvPr id="16" name="finding-price"/>
          <p:cNvGrpSpPr/>
          <p:nvPr/>
        </p:nvGrpSpPr>
        <p:grpSpPr>
          <a:xfrm>
            <a:off x="561594" y="3768725"/>
            <a:ext cx="3199426" cy="1275207"/>
            <a:chOff x="561594" y="3768725"/>
            <a:chExt cx="3199426" cy="1275207"/>
          </a:xfrm>
        </p:grpSpPr>
        <p:sp>
          <p:nvSpPr>
            <p:cNvPr id="13" name="TextBox 13"/>
            <p:cNvSpPr txBox="1"/>
            <p:nvPr/>
          </p:nvSpPr>
          <p:spPr>
            <a:xfrm>
              <a:off x="561594" y="3768725"/>
              <a:ext cx="45391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03　房价调节未获稳定支持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4302125"/>
              <a:ext cx="4126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两组交互、联合及组间差检验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4721225"/>
              <a:ext cx="31931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均不足以确认调节作用</a:t>
              </a:r>
            </a:p>
          </p:txBody>
        </p:sp>
      </p:grpSp>
      <p:grpSp>
        <p:nvGrpSpPr>
          <p:cNvPr id="20" name="finding-boundaries"/>
          <p:cNvGrpSpPr/>
          <p:nvPr/>
        </p:nvGrpSpPr>
        <p:grpSpPr>
          <a:xfrm>
            <a:off x="6467094" y="3768725"/>
            <a:ext cx="3128010" cy="1275207"/>
            <a:chOff x="6467094" y="3768725"/>
            <a:chExt cx="3128010" cy="1275207"/>
          </a:xfrm>
        </p:grpSpPr>
        <p:sp>
          <p:nvSpPr>
            <p:cNvPr id="17" name="TextBox 17"/>
            <p:cNvSpPr txBox="1"/>
            <p:nvPr/>
          </p:nvSpPr>
          <p:spPr>
            <a:xfrm>
              <a:off x="6467094" y="3768725"/>
              <a:ext cx="41716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7B2635"/>
                  </a:solidFill>
                  <a:latin typeface="+mn-lt"/>
                  <a:ea typeface="+mn-ea"/>
                  <a:cs typeface="+mn-cs"/>
                </a:rPr>
                <a:t>04　关联不等于机制识别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4302125"/>
              <a:ext cx="4437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横截面比较，不是十年老化轨迹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4721225"/>
              <a:ext cx="4437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两类诉求不等于客观问题与预期</a:t>
              </a:r>
            </a:p>
          </p:txBody>
        </p:sp>
      </p:grpSp>
      <p:grpSp>
        <p:nvGrpSpPr>
          <p:cNvPr id="22" name="limits"/>
          <p:cNvGrpSpPr/>
          <p:nvPr/>
        </p:nvGrpSpPr>
        <p:grpSpPr>
          <a:xfrm>
            <a:off x="563118" y="5807075"/>
            <a:ext cx="7297334" cy="322707"/>
            <a:chOff x="563118" y="5807075"/>
            <a:chExt cx="7297334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5807075"/>
              <a:ext cx="10276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 horzOverflow="overflow" vertOverflow="overflow">
              <a:no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解释边界：房龄是代理 · 物业记录不等于服务质量 · 无独立故障或意愿测量</a:t>
              </a:r>
            </a:p>
          </p:txBody>
        </p:sp>
      </p:grpSp>
      <p:sp>
        <p:nvSpPr>
          <p:cNvPr id="23" name="source"/>
          <p:cNvSpPr txBox="1"/>
          <p:nvPr/>
        </p:nvSpPr>
        <p:spPr>
          <a:xfrm>
            <a:off x="565404" y="6419850"/>
            <a:ext cx="76032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来源：房龄报告 第七章；横截面条件关联，不构成房龄或物业服务的因果效应</a:t>
            </a:r>
          </a:p>
        </p:txBody>
      </p:sp>
      <p:sp>
        <p:nvSpPr>
          <p:cNvPr id="24" name="number"/>
          <p:cNvSpPr txBox="1"/>
          <p:nvPr/>
        </p:nvSpPr>
        <p:spPr>
          <a:xfrm>
            <a:off x="10659342" y="6419850"/>
            <a:ext cx="9672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horzOverflow="overflow" vertOverflow="overflow">
            <a:noAutofit/>
          </a:bodyPr>
          <a:lstStyle/>
          <a:p>
            <a:pPr algn="r"/>
            <a:r>
              <a:rPr lang="en-US" sz="1200" dirty="0">
                <a:solidFill>
                  <a:srgbClr val="737373"/>
                </a:solidFill>
                <a:latin typeface="+mn-lt"/>
                <a:ea typeface="+mn-ea"/>
                <a:cs typeface="+mn-cs"/>
              </a:rPr>
              <a:t>B12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eijing_midterm">
  <a:themeElements>
    <a:clrScheme name="beijing_midter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ijing_midte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ijing_midte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eijing_midterm">
  <a:themeElements>
    <a:clrScheme name="beijing_midter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ijing_midte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ijing_midte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2026-10-15T07:34:56Z</dcterms:created>
  <dcterms:modified xsi:type="dcterms:W3CDTF">2026-10-15T07:34:56Z</dcterms:modified>
  <cp:category/>
  <cp:contentStatus/>
</cp:coreProperties>
</file>